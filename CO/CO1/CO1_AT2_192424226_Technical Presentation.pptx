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493525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1034358" y="1748276"/>
            <a:ext cx="9691087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Evolution of Natural Language Processing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034358" y="278557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D9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Rule-Based Systems to Modern NLP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34358" y="3429000"/>
            <a:ext cx="2011680" cy="0"/>
          </a:xfrm>
          <a:prstGeom prst="line">
            <a:avLst/>
          </a:prstGeom>
          <a:noFill/>
          <a:ln w="31750">
            <a:solidFill>
              <a:srgbClr val="E8A3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72050" y="4572000"/>
            <a:ext cx="2659117" cy="1282262"/>
          </a:xfrm>
          <a:prstGeom prst="roundRect">
            <a:avLst>
              <a:gd name="adj" fmla="val 2985"/>
            </a:avLst>
          </a:prstGeom>
          <a:solidFill>
            <a:srgbClr val="233257"/>
          </a:solidFill>
          <a:ln w="12700">
            <a:solidFill>
              <a:srgbClr val="3949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04953" y="470458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004953" y="5125054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Roja [192424226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]</a:t>
            </a:r>
            <a:endParaRPr lang="en-US" sz="1300" b="1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23AB74B6-AF66-F531-AB62-95C2DBDBC1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4559688"/>
            <a:ext cx="2514600" cy="1294574"/>
          </a:xfrm>
          <a:prstGeom prst="rect">
            <a:avLst/>
          </a:prstGeom>
        </p:spPr>
      </p:pic>
      <p:sp>
        <p:nvSpPr>
          <p:cNvPr id="28" name="Text 10">
            <a:extLst>
              <a:ext uri="{FF2B5EF4-FFF2-40B4-BE49-F238E27FC236}">
                <a16:creationId xmlns:a16="http://schemas.microsoft.com/office/drawing/2014/main" id="{37631795-2629-B08B-69BA-49E07E86FA8D}"/>
              </a:ext>
            </a:extLst>
          </p:cNvPr>
          <p:cNvSpPr/>
          <p:nvPr/>
        </p:nvSpPr>
        <p:spPr>
          <a:xfrm>
            <a:off x="1524000" y="520199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 K ANBAZHAGAN</a:t>
            </a:r>
            <a:endParaRPr lang="en-US" sz="1400" b="1" dirty="0"/>
          </a:p>
        </p:txBody>
      </p:sp>
      <p:sp>
        <p:nvSpPr>
          <p:cNvPr id="30" name="Text 8">
            <a:extLst>
              <a:ext uri="{FF2B5EF4-FFF2-40B4-BE49-F238E27FC236}">
                <a16:creationId xmlns:a16="http://schemas.microsoft.com/office/drawing/2014/main" id="{5B63D5B7-174E-B651-CA19-2379C90EBE46}"/>
              </a:ext>
            </a:extLst>
          </p:cNvPr>
          <p:cNvSpPr/>
          <p:nvPr/>
        </p:nvSpPr>
        <p:spPr>
          <a:xfrm>
            <a:off x="1559185" y="472202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BY</a:t>
            </a:r>
            <a:endParaRPr lang="en-US" sz="14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FBD2A75-7AC3-0F08-20D4-C6EEAC583056}"/>
              </a:ext>
            </a:extLst>
          </p:cNvPr>
          <p:cNvSpPr txBox="1"/>
          <p:nvPr/>
        </p:nvSpPr>
        <p:spPr>
          <a:xfrm>
            <a:off x="914400" y="3621999"/>
            <a:ext cx="59803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i="1" dirty="0">
                <a:solidFill>
                  <a:schemeClr val="bg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DSA0305-Natural Language Processing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3732CE7A-2C4A-740D-DA73-9F70FD5421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566" y="240821"/>
            <a:ext cx="11550868" cy="16230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1">
                <a:lumMod val="20000"/>
                <a:lumOff val="80000"/>
              </a:schemeClr>
            </a:gs>
            <a:gs pos="100000">
              <a:schemeClr val="accent2">
                <a:lumMod val="40000"/>
                <a:lumOff val="60000"/>
              </a:schemeClr>
            </a:gs>
            <a:gs pos="45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600" i="1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Natural Language Processing?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065A82"/>
          </a:solidFill>
          <a:ln/>
          <a:effectLst>
            <a:outerShdw blurRad="76200" dist="25400" dir="5400000" algn="bl" rotWithShape="0">
              <a:srgbClr val="9AA9B8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23444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Processing (NLP) enables computers to process and understand human languages such as English, Telugu, Tamil, Hindi, and many others.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3526536" cy="3794760"/>
          </a:xfrm>
          <a:prstGeom prst="roundRect">
            <a:avLst>
              <a:gd name="adj" fmla="val 207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9B8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9808" y="2532888"/>
            <a:ext cx="329184" cy="32918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07008" y="2514600"/>
            <a:ext cx="2667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49808" y="2971800"/>
            <a:ext cx="3124200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human language</a:t>
            </a:r>
            <a:endParaRPr lang="en-US" sz="1400" dirty="0"/>
          </a:p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text and speech</a:t>
            </a:r>
            <a:endParaRPr lang="en-US" sz="1400" dirty="0"/>
          </a:p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useful information</a:t>
            </a:r>
            <a:endParaRPr lang="en-US" sz="1400" dirty="0"/>
          </a:p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meaningful responses</a:t>
            </a:r>
            <a:endParaRPr lang="en-US" sz="1400" dirty="0"/>
          </a:p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intelligent decision-making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331208" y="2331720"/>
            <a:ext cx="3526536" cy="3794760"/>
          </a:xfrm>
          <a:prstGeom prst="roundRect">
            <a:avLst>
              <a:gd name="adj" fmla="val 207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9B8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32376" y="2532888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4532376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89576" y="2514600"/>
            <a:ext cx="2667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32376" y="2971800"/>
            <a:ext cx="3124200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▪"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Chatbots &amp; Virtual Assistants</a:t>
            </a:r>
            <a:endParaRPr lang="en-US" sz="1400" dirty="0"/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▪"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Translation</a:t>
            </a:r>
            <a:endParaRPr lang="en-US" sz="1400" dirty="0"/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▪"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Recognition</a:t>
            </a:r>
            <a:endParaRPr lang="en-US" sz="1400" dirty="0"/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▪"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Analysis</a:t>
            </a:r>
            <a:endParaRPr lang="en-US" sz="1400" dirty="0"/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▪"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Detection</a:t>
            </a:r>
            <a:endParaRPr lang="en-US" sz="1400" dirty="0"/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▪"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Summarization</a:t>
            </a:r>
            <a:endParaRPr lang="en-US" sz="1400" dirty="0"/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▪"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Checking</a:t>
            </a:r>
            <a:endParaRPr lang="en-US" sz="1400" dirty="0"/>
          </a:p>
          <a:p>
            <a:pPr marL="177800" indent="-177800">
              <a:lnSpc>
                <a:spcPct val="105000"/>
              </a:lnSpc>
              <a:spcAft>
                <a:spcPts val="400"/>
              </a:spcAft>
              <a:buSzPct val="100000"/>
              <a:buChar char="▪"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Engines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113776" y="2331720"/>
            <a:ext cx="3526536" cy="3794760"/>
          </a:xfrm>
          <a:prstGeom prst="roundRect">
            <a:avLst>
              <a:gd name="adj" fmla="val 207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9B8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14944" y="2532888"/>
            <a:ext cx="329184" cy="32918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8" name="Text 16"/>
          <p:cNvSpPr/>
          <p:nvPr/>
        </p:nvSpPr>
        <p:spPr>
          <a:xfrm>
            <a:off x="8314944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772144" y="2514600"/>
            <a:ext cx="2667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314944" y="2971800"/>
            <a:ext cx="3124200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Ambiguity in language</a:t>
            </a:r>
            <a:endParaRPr lang="en-US" sz="1400" dirty="0"/>
          </a:p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understanding</a:t>
            </a:r>
            <a:endParaRPr lang="en-US" sz="1400" dirty="0"/>
          </a:p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languages</a:t>
            </a:r>
            <a:endParaRPr lang="en-US" sz="1400" dirty="0"/>
          </a:p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Slang and abbreviations</a:t>
            </a:r>
            <a:endParaRPr lang="en-US" sz="1400" dirty="0"/>
          </a:p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writing styles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 of Natural Language Processing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18311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1">
                <a:lumMod val="20000"/>
                <a:lumOff val="80000"/>
              </a:schemeClr>
            </a:gs>
            <a:gs pos="100000">
              <a:schemeClr val="accent2">
                <a:lumMod val="40000"/>
                <a:lumOff val="60000"/>
              </a:schemeClr>
            </a:gs>
            <a:gs pos="45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 01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Rule-Based NLP Systems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720072" y="384048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5" name="Text 3"/>
          <p:cNvSpPr/>
          <p:nvPr/>
        </p:nvSpPr>
        <p:spPr>
          <a:xfrm>
            <a:off x="9720072" y="38404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1950s – 1980s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577072" y="896112"/>
            <a:ext cx="146304" cy="14630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Shape 5"/>
          <p:cNvSpPr/>
          <p:nvPr/>
        </p:nvSpPr>
        <p:spPr>
          <a:xfrm>
            <a:off x="9354312" y="896112"/>
            <a:ext cx="146304" cy="146304"/>
          </a:xfrm>
          <a:prstGeom prst="ellipse">
            <a:avLst/>
          </a:prstGeom>
          <a:solidFill>
            <a:srgbClr val="C7D3DC"/>
          </a:solidFill>
          <a:ln/>
        </p:spPr>
      </p:sp>
      <p:sp>
        <p:nvSpPr>
          <p:cNvPr id="8" name="Shape 6"/>
          <p:cNvSpPr/>
          <p:nvPr/>
        </p:nvSpPr>
        <p:spPr>
          <a:xfrm>
            <a:off x="10131552" y="896112"/>
            <a:ext cx="146304" cy="146304"/>
          </a:xfrm>
          <a:prstGeom prst="ellipse">
            <a:avLst/>
          </a:prstGeom>
          <a:solidFill>
            <a:srgbClr val="C7D3DC"/>
          </a:solidFill>
          <a:ln/>
        </p:spPr>
      </p:sp>
      <p:sp>
        <p:nvSpPr>
          <p:cNvPr id="9" name="Shape 7"/>
          <p:cNvSpPr/>
          <p:nvPr/>
        </p:nvSpPr>
        <p:spPr>
          <a:xfrm>
            <a:off x="10908792" y="896112"/>
            <a:ext cx="146304" cy="146304"/>
          </a:xfrm>
          <a:prstGeom prst="ellipse">
            <a:avLst/>
          </a:prstGeom>
          <a:solidFill>
            <a:srgbClr val="C7D3DC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17043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chemeClr val="accent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earliest NLP systems relied on manually written grammar rules and dictionaries created by language experts.</a:t>
            </a:r>
            <a:endParaRPr lang="en-US" sz="14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548640" y="1691640"/>
            <a:ext cx="2464308" cy="685800"/>
          </a:xfrm>
          <a:prstGeom prst="roundRect">
            <a:avLst>
              <a:gd name="adj" fmla="val 10667"/>
            </a:avLst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" y="1691640"/>
            <a:ext cx="23180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Sentence</a:t>
            </a:r>
            <a:endParaRPr lang="en-US" sz="1400" i="1" dirty="0"/>
          </a:p>
        </p:txBody>
      </p:sp>
      <p:sp>
        <p:nvSpPr>
          <p:cNvPr id="13" name="Text 11"/>
          <p:cNvSpPr/>
          <p:nvPr/>
        </p:nvSpPr>
        <p:spPr>
          <a:xfrm>
            <a:off x="3012948" y="1691640"/>
            <a:ext cx="411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3424428" y="1691640"/>
            <a:ext cx="2464308" cy="685800"/>
          </a:xfrm>
          <a:prstGeom prst="roundRect">
            <a:avLst>
              <a:gd name="adj" fmla="val 10667"/>
            </a:avLst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3497580" y="1691640"/>
            <a:ext cx="23180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Rules</a:t>
            </a:r>
            <a:endParaRPr lang="en-US" sz="1400" i="1" dirty="0"/>
          </a:p>
        </p:txBody>
      </p:sp>
      <p:sp>
        <p:nvSpPr>
          <p:cNvPr id="16" name="Text 14"/>
          <p:cNvSpPr/>
          <p:nvPr/>
        </p:nvSpPr>
        <p:spPr>
          <a:xfrm>
            <a:off x="5888736" y="1691640"/>
            <a:ext cx="411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300216" y="1691640"/>
            <a:ext cx="2464308" cy="685800"/>
          </a:xfrm>
          <a:prstGeom prst="roundRect">
            <a:avLst>
              <a:gd name="adj" fmla="val 10667"/>
            </a:avLst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6373368" y="1691640"/>
            <a:ext cx="23180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 Analysis</a:t>
            </a:r>
            <a:endParaRPr lang="en-US" sz="1400" i="1" dirty="0"/>
          </a:p>
        </p:txBody>
      </p:sp>
      <p:sp>
        <p:nvSpPr>
          <p:cNvPr id="19" name="Text 17"/>
          <p:cNvSpPr/>
          <p:nvPr/>
        </p:nvSpPr>
        <p:spPr>
          <a:xfrm>
            <a:off x="8764524" y="1691640"/>
            <a:ext cx="411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9176004" y="1691640"/>
            <a:ext cx="2464308" cy="685800"/>
          </a:xfrm>
          <a:prstGeom prst="roundRect">
            <a:avLst>
              <a:gd name="adj" fmla="val 10667"/>
            </a:avLst>
          </a:prstGeom>
          <a:solidFill>
            <a:srgbClr val="E8A33D"/>
          </a:solidFill>
          <a:ln/>
        </p:spPr>
      </p:sp>
      <p:sp>
        <p:nvSpPr>
          <p:cNvPr id="21" name="Text 19"/>
          <p:cNvSpPr/>
          <p:nvPr/>
        </p:nvSpPr>
        <p:spPr>
          <a:xfrm>
            <a:off x="9249156" y="1691640"/>
            <a:ext cx="23180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Predefined Response</a:t>
            </a:r>
            <a:endParaRPr lang="en-US" sz="1400" i="1" dirty="0"/>
          </a:p>
        </p:txBody>
      </p:sp>
      <p:sp>
        <p:nvSpPr>
          <p:cNvPr id="23" name="Shape 21"/>
          <p:cNvSpPr/>
          <p:nvPr/>
        </p:nvSpPr>
        <p:spPr>
          <a:xfrm>
            <a:off x="548640" y="3017520"/>
            <a:ext cx="3526536" cy="315468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9B8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49808" y="3218688"/>
            <a:ext cx="329184" cy="32918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5" name="Text 23"/>
          <p:cNvSpPr/>
          <p:nvPr/>
        </p:nvSpPr>
        <p:spPr>
          <a:xfrm>
            <a:off x="749808" y="32186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207008" y="3200400"/>
            <a:ext cx="2667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Characteristics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49808" y="3657600"/>
            <a:ext cx="3124200" cy="2313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Handwritten grammar rules</a:t>
            </a:r>
            <a:endParaRPr lang="en-US" sz="1400" dirty="0"/>
          </a:p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matching</a:t>
            </a:r>
            <a:endParaRPr lang="en-US" sz="1400" dirty="0"/>
          </a:p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Dictionary lookup</a:t>
            </a:r>
            <a:endParaRPr lang="en-US" sz="1400" dirty="0"/>
          </a:p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If–Else logic</a:t>
            </a:r>
            <a:endParaRPr lang="en-US" sz="1400" dirty="0"/>
          </a:p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Domain-specific knowledge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331208" y="3017520"/>
            <a:ext cx="3526536" cy="315468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9B8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32376" y="3218688"/>
            <a:ext cx="329184" cy="329184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30" name="Text 28"/>
          <p:cNvSpPr/>
          <p:nvPr/>
        </p:nvSpPr>
        <p:spPr>
          <a:xfrm>
            <a:off x="4532376" y="32186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989576" y="3200400"/>
            <a:ext cx="2667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4532376" y="3657600"/>
            <a:ext cx="3124200" cy="2313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understand</a:t>
            </a:r>
            <a:endParaRPr lang="en-US" sz="1400" dirty="0"/>
          </a:p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Predictable outputs</a:t>
            </a:r>
            <a:endParaRPr lang="en-US" sz="1400" dirty="0"/>
          </a:p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accuracy in limited domains</a:t>
            </a:r>
            <a:endParaRPr lang="en-US" sz="1400" dirty="0"/>
          </a:p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training data required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8113776" y="3017520"/>
            <a:ext cx="3526536" cy="315468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9B8">
                <a:alpha val="3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8314944" y="3218688"/>
            <a:ext cx="329184" cy="329184"/>
          </a:xfrm>
          <a:prstGeom prst="ellipse">
            <a:avLst/>
          </a:prstGeom>
          <a:solidFill>
            <a:srgbClr val="B24545"/>
          </a:solidFill>
          <a:ln/>
        </p:spPr>
      </p:sp>
      <p:sp>
        <p:nvSpPr>
          <p:cNvPr id="35" name="Text 33"/>
          <p:cNvSpPr/>
          <p:nvPr/>
        </p:nvSpPr>
        <p:spPr>
          <a:xfrm>
            <a:off x="8314944" y="32186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772144" y="3200400"/>
            <a:ext cx="2667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8314944" y="3657600"/>
            <a:ext cx="3124200" cy="2313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 to maintain</a:t>
            </a:r>
            <a:endParaRPr lang="en-US" sz="1400" dirty="0"/>
          </a:p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learn from data</a:t>
            </a:r>
            <a:endParaRPr lang="en-US" sz="1400" dirty="0"/>
          </a:p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scalability</a:t>
            </a:r>
            <a:endParaRPr lang="en-US" sz="1400" dirty="0"/>
          </a:p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Unable to understand unseen sentences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 of Natural Language Processing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18311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1">
                <a:lumMod val="20000"/>
                <a:lumOff val="80000"/>
              </a:schemeClr>
            </a:gs>
            <a:gs pos="100000">
              <a:schemeClr val="accent2">
                <a:lumMod val="40000"/>
                <a:lumOff val="60000"/>
              </a:schemeClr>
            </a:gs>
            <a:gs pos="45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 02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Statistical NLP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720072" y="384048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5" name="Text 3"/>
          <p:cNvSpPr/>
          <p:nvPr/>
        </p:nvSpPr>
        <p:spPr>
          <a:xfrm>
            <a:off x="9720072" y="38404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1990s – 2000s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577072" y="896112"/>
            <a:ext cx="146304" cy="146304"/>
          </a:xfrm>
          <a:prstGeom prst="ellipse">
            <a:avLst/>
          </a:prstGeom>
          <a:solidFill>
            <a:srgbClr val="C7D3DC"/>
          </a:solidFill>
          <a:ln/>
        </p:spPr>
      </p:sp>
      <p:sp>
        <p:nvSpPr>
          <p:cNvPr id="7" name="Shape 5"/>
          <p:cNvSpPr/>
          <p:nvPr/>
        </p:nvSpPr>
        <p:spPr>
          <a:xfrm>
            <a:off x="9354312" y="896112"/>
            <a:ext cx="146304" cy="14630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8" name="Shape 6"/>
          <p:cNvSpPr/>
          <p:nvPr/>
        </p:nvSpPr>
        <p:spPr>
          <a:xfrm>
            <a:off x="10131552" y="896112"/>
            <a:ext cx="146304" cy="146304"/>
          </a:xfrm>
          <a:prstGeom prst="ellipse">
            <a:avLst/>
          </a:prstGeom>
          <a:solidFill>
            <a:srgbClr val="C7D3DC"/>
          </a:solidFill>
          <a:ln/>
        </p:spPr>
      </p:sp>
      <p:sp>
        <p:nvSpPr>
          <p:cNvPr id="9" name="Shape 7"/>
          <p:cNvSpPr/>
          <p:nvPr/>
        </p:nvSpPr>
        <p:spPr>
          <a:xfrm>
            <a:off x="10908792" y="896112"/>
            <a:ext cx="146304" cy="146304"/>
          </a:xfrm>
          <a:prstGeom prst="ellipse">
            <a:avLst/>
          </a:prstGeom>
          <a:solidFill>
            <a:srgbClr val="C7D3DC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170432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chemeClr val="accent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NLP replaced manual rules with probability-based methods that learn language patterns from large text datasets.</a:t>
            </a:r>
            <a:endParaRPr lang="en-US" sz="14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548640" y="1783080"/>
            <a:ext cx="2580894" cy="4389120"/>
          </a:xfrm>
          <a:prstGeom prst="roundRect">
            <a:avLst>
              <a:gd name="adj" fmla="val 283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9B8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49808" y="1984248"/>
            <a:ext cx="329184" cy="32918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" y="19842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07008" y="1965960"/>
            <a:ext cx="17213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Techniques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49808" y="2423160"/>
            <a:ext cx="2178558" cy="354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N-Gram Models</a:t>
            </a:r>
            <a:endParaRPr lang="en-US" sz="1400" dirty="0"/>
          </a:p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Markov Models (HMM)</a:t>
            </a:r>
            <a:endParaRPr lang="en-US" sz="1400" dirty="0"/>
          </a:p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Networks</a:t>
            </a:r>
            <a:endParaRPr lang="en-US" sz="1400" dirty="0"/>
          </a:p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Entropy Models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385566" y="1783080"/>
            <a:ext cx="2580894" cy="4389120"/>
          </a:xfrm>
          <a:prstGeom prst="roundRect">
            <a:avLst>
              <a:gd name="adj" fmla="val 283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9B8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586734" y="1984248"/>
            <a:ext cx="329184" cy="329184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18" name="Text 16"/>
          <p:cNvSpPr/>
          <p:nvPr/>
        </p:nvSpPr>
        <p:spPr>
          <a:xfrm>
            <a:off x="3586734" y="19842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043934" y="1965960"/>
            <a:ext cx="17213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586734" y="2423160"/>
            <a:ext cx="2178558" cy="354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from data</a:t>
            </a:r>
            <a:endParaRPr lang="en-US" sz="1400" dirty="0"/>
          </a:p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language variations</a:t>
            </a:r>
            <a:endParaRPr lang="en-US" sz="1400" dirty="0"/>
          </a:p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machine translation</a:t>
            </a:r>
            <a:endParaRPr lang="en-US" sz="1400" dirty="0"/>
          </a:p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flexible than rule-based systems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222492" y="1783080"/>
            <a:ext cx="2580894" cy="4389120"/>
          </a:xfrm>
          <a:prstGeom prst="roundRect">
            <a:avLst>
              <a:gd name="adj" fmla="val 283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9B8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23660" y="1984248"/>
            <a:ext cx="329184" cy="329184"/>
          </a:xfrm>
          <a:prstGeom prst="ellipse">
            <a:avLst/>
          </a:prstGeom>
          <a:solidFill>
            <a:srgbClr val="B24545"/>
          </a:solidFill>
          <a:ln/>
        </p:spPr>
      </p:sp>
      <p:sp>
        <p:nvSpPr>
          <p:cNvPr id="23" name="Text 21"/>
          <p:cNvSpPr/>
          <p:nvPr/>
        </p:nvSpPr>
        <p:spPr>
          <a:xfrm>
            <a:off x="6423660" y="19842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880860" y="1965960"/>
            <a:ext cx="17213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423660" y="2423160"/>
            <a:ext cx="2178558" cy="1476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large datasets</a:t>
            </a:r>
            <a:endParaRPr lang="en-US" sz="1400" dirty="0"/>
          </a:p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context understanding</a:t>
            </a:r>
            <a:endParaRPr lang="en-US" sz="1400" dirty="0"/>
          </a:p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sparsity problems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9059418" y="1783080"/>
            <a:ext cx="2580894" cy="4389120"/>
          </a:xfrm>
          <a:prstGeom prst="roundRect">
            <a:avLst>
              <a:gd name="adj" fmla="val 283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9B8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260586" y="1984248"/>
            <a:ext cx="329184" cy="32918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8" name="Text 26"/>
          <p:cNvSpPr/>
          <p:nvPr/>
        </p:nvSpPr>
        <p:spPr>
          <a:xfrm>
            <a:off x="9260586" y="19842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717786" y="1965960"/>
            <a:ext cx="17213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Applications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9260586" y="2423160"/>
            <a:ext cx="2178558" cy="354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Recognition</a:t>
            </a:r>
            <a:endParaRPr lang="en-US" sz="1400" dirty="0"/>
          </a:p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 Checking</a:t>
            </a:r>
            <a:endParaRPr lang="en-US" sz="1400" dirty="0"/>
          </a:p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Tagging</a:t>
            </a:r>
            <a:endParaRPr lang="en-US" sz="1400" dirty="0"/>
          </a:p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Translation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 of Natural Language Processing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18311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1">
                <a:lumMod val="20000"/>
                <a:lumOff val="80000"/>
              </a:schemeClr>
            </a:gs>
            <a:gs pos="100000">
              <a:schemeClr val="accent2">
                <a:lumMod val="40000"/>
                <a:lumOff val="60000"/>
              </a:schemeClr>
            </a:gs>
            <a:gs pos="45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 03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Learning-Based NLP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720072" y="384048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5" name="Text 3"/>
          <p:cNvSpPr/>
          <p:nvPr/>
        </p:nvSpPr>
        <p:spPr>
          <a:xfrm>
            <a:off x="9720072" y="38404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2000s – 2015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577072" y="896112"/>
            <a:ext cx="146304" cy="146304"/>
          </a:xfrm>
          <a:prstGeom prst="ellipse">
            <a:avLst/>
          </a:prstGeom>
          <a:solidFill>
            <a:srgbClr val="C7D3DC"/>
          </a:solidFill>
          <a:ln/>
        </p:spPr>
      </p:sp>
      <p:sp>
        <p:nvSpPr>
          <p:cNvPr id="7" name="Shape 5"/>
          <p:cNvSpPr/>
          <p:nvPr/>
        </p:nvSpPr>
        <p:spPr>
          <a:xfrm>
            <a:off x="9354312" y="896112"/>
            <a:ext cx="146304" cy="146304"/>
          </a:xfrm>
          <a:prstGeom prst="ellipse">
            <a:avLst/>
          </a:prstGeom>
          <a:solidFill>
            <a:srgbClr val="C7D3DC"/>
          </a:solidFill>
          <a:ln/>
        </p:spPr>
      </p:sp>
      <p:sp>
        <p:nvSpPr>
          <p:cNvPr id="8" name="Shape 6"/>
          <p:cNvSpPr/>
          <p:nvPr/>
        </p:nvSpPr>
        <p:spPr>
          <a:xfrm>
            <a:off x="10131552" y="896112"/>
            <a:ext cx="146304" cy="14630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9" name="Shape 7"/>
          <p:cNvSpPr/>
          <p:nvPr/>
        </p:nvSpPr>
        <p:spPr>
          <a:xfrm>
            <a:off x="10908792" y="896112"/>
            <a:ext cx="146304" cy="146304"/>
          </a:xfrm>
          <a:prstGeom prst="ellipse">
            <a:avLst/>
          </a:prstGeom>
          <a:solidFill>
            <a:srgbClr val="C7D3DC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170432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chemeClr val="accent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allowed NLP systems to automatically identify language patterns from data instead of depending only on manually written rules.</a:t>
            </a:r>
            <a:endParaRPr lang="en-US" sz="14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548640" y="1783080"/>
            <a:ext cx="541782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9B8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49808" y="1984248"/>
            <a:ext cx="329184" cy="32918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" y="19842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07008" y="1965960"/>
            <a:ext cx="45582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49808" y="2423160"/>
            <a:ext cx="5015484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Trees</a:t>
            </a:r>
            <a:endParaRPr lang="en-US" sz="1400" dirty="0"/>
          </a:p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Naïve Bayes</a:t>
            </a:r>
            <a:endParaRPr lang="en-US" sz="1400" dirty="0"/>
          </a:p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Vector Machines (SVM)</a:t>
            </a:r>
            <a:endParaRPr lang="en-US" sz="1400" dirty="0"/>
          </a:p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22492" y="1783080"/>
            <a:ext cx="541782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9B8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23660" y="1984248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6423660" y="19842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80860" y="1965960"/>
            <a:ext cx="45582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23660" y="2423160"/>
            <a:ext cx="5015484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 of Words</a:t>
            </a:r>
            <a:endParaRPr lang="en-US" sz="1400" dirty="0"/>
          </a:p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</a:t>
            </a:r>
            <a:endParaRPr lang="en-US" sz="1400" dirty="0"/>
          </a:p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Frequency</a:t>
            </a:r>
            <a:endParaRPr lang="en-US" sz="1400" dirty="0"/>
          </a:p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Features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4187952"/>
            <a:ext cx="541782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9B8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49808" y="4389120"/>
            <a:ext cx="329184" cy="329184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23" name="Text 21"/>
          <p:cNvSpPr/>
          <p:nvPr/>
        </p:nvSpPr>
        <p:spPr>
          <a:xfrm>
            <a:off x="749808" y="4389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207008" y="4370832"/>
            <a:ext cx="45582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49808" y="4828032"/>
            <a:ext cx="5015484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prediction accuracy</a:t>
            </a:r>
            <a:endParaRPr lang="en-US" sz="1400" dirty="0"/>
          </a:p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model development</a:t>
            </a:r>
            <a:endParaRPr lang="en-US" sz="1400" dirty="0"/>
          </a:p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text classification</a:t>
            </a:r>
            <a:endParaRPr lang="en-US" sz="1400" dirty="0"/>
          </a:p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adaptable to new datasets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222492" y="4187952"/>
            <a:ext cx="541782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9B8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423660" y="4389120"/>
            <a:ext cx="329184" cy="329184"/>
          </a:xfrm>
          <a:prstGeom prst="ellipse">
            <a:avLst/>
          </a:prstGeom>
          <a:solidFill>
            <a:srgbClr val="B24545"/>
          </a:solidFill>
          <a:ln/>
        </p:spPr>
      </p:sp>
      <p:sp>
        <p:nvSpPr>
          <p:cNvPr id="28" name="Text 26"/>
          <p:cNvSpPr/>
          <p:nvPr/>
        </p:nvSpPr>
        <p:spPr>
          <a:xfrm>
            <a:off x="6423660" y="4389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880860" y="4370832"/>
            <a:ext cx="45582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423660" y="4828032"/>
            <a:ext cx="5015484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feature engineering required</a:t>
            </a:r>
            <a:endParaRPr lang="en-US" sz="1400" dirty="0"/>
          </a:p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context understanding</a:t>
            </a:r>
            <a:endParaRPr lang="en-US" sz="1400" dirty="0"/>
          </a:p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depends on feature quality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 of Natural Language Processing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18311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1">
                <a:lumMod val="20000"/>
                <a:lumOff val="80000"/>
              </a:schemeClr>
            </a:gs>
            <a:gs pos="100000">
              <a:schemeClr val="accent2">
                <a:lumMod val="40000"/>
                <a:lumOff val="60000"/>
              </a:schemeClr>
            </a:gs>
            <a:gs pos="45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 04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Learning &amp; Modern NLP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720072" y="384048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5" name="Text 3"/>
          <p:cNvSpPr/>
          <p:nvPr/>
        </p:nvSpPr>
        <p:spPr>
          <a:xfrm>
            <a:off x="9720072" y="38404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 – Present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577072" y="896112"/>
            <a:ext cx="146304" cy="146304"/>
          </a:xfrm>
          <a:prstGeom prst="ellipse">
            <a:avLst/>
          </a:prstGeom>
          <a:solidFill>
            <a:srgbClr val="C7D3DC"/>
          </a:solidFill>
          <a:ln/>
        </p:spPr>
      </p:sp>
      <p:sp>
        <p:nvSpPr>
          <p:cNvPr id="7" name="Shape 5"/>
          <p:cNvSpPr/>
          <p:nvPr/>
        </p:nvSpPr>
        <p:spPr>
          <a:xfrm>
            <a:off x="9354312" y="896112"/>
            <a:ext cx="146304" cy="146304"/>
          </a:xfrm>
          <a:prstGeom prst="ellipse">
            <a:avLst/>
          </a:prstGeom>
          <a:solidFill>
            <a:srgbClr val="C7D3DC"/>
          </a:solidFill>
          <a:ln/>
        </p:spPr>
      </p:sp>
      <p:sp>
        <p:nvSpPr>
          <p:cNvPr id="8" name="Shape 6"/>
          <p:cNvSpPr/>
          <p:nvPr/>
        </p:nvSpPr>
        <p:spPr>
          <a:xfrm>
            <a:off x="10131552" y="896112"/>
            <a:ext cx="146304" cy="146304"/>
          </a:xfrm>
          <a:prstGeom prst="ellipse">
            <a:avLst/>
          </a:prstGeom>
          <a:solidFill>
            <a:srgbClr val="C7D3DC"/>
          </a:solidFill>
          <a:ln/>
        </p:spPr>
      </p:sp>
      <p:sp>
        <p:nvSpPr>
          <p:cNvPr id="9" name="Shape 7"/>
          <p:cNvSpPr/>
          <p:nvPr/>
        </p:nvSpPr>
        <p:spPr>
          <a:xfrm>
            <a:off x="10908792" y="896112"/>
            <a:ext cx="146304" cy="14630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170432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chemeClr val="accent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transformed NLP by automatically learning language features and understanding context using neural networks.</a:t>
            </a:r>
            <a:endParaRPr lang="en-US" sz="14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548640" y="1783080"/>
            <a:ext cx="541782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9B8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49808" y="1984248"/>
            <a:ext cx="329184" cy="32918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" y="19842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07008" y="1965960"/>
            <a:ext cx="45582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Neural Networks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49808" y="2423160"/>
            <a:ext cx="5015484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</a:t>
            </a:r>
            <a:endParaRPr lang="en-US" sz="1400" dirty="0"/>
          </a:p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</a:t>
            </a:r>
            <a:endParaRPr lang="en-US" sz="1400" dirty="0"/>
          </a:p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</a:t>
            </a:r>
            <a:endParaRPr lang="en-US" sz="1400" dirty="0"/>
          </a:p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Architecture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22492" y="1783080"/>
            <a:ext cx="5417820" cy="2148840"/>
          </a:xfrm>
          <a:prstGeom prst="roundRect">
            <a:avLst>
              <a:gd name="adj" fmla="val 3404"/>
            </a:avLst>
          </a:prstGeom>
          <a:solidFill>
            <a:srgbClr val="E8A33D"/>
          </a:solidFill>
          <a:ln/>
          <a:effectLst>
            <a:outerShdw blurRad="76200" dist="25400" dir="5400000" algn="bl" rotWithShape="0">
              <a:srgbClr val="9AA9B8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23660" y="1984248"/>
            <a:ext cx="329184" cy="329184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8" name="Text 16"/>
          <p:cNvSpPr/>
          <p:nvPr/>
        </p:nvSpPr>
        <p:spPr>
          <a:xfrm>
            <a:off x="6423660" y="19842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80860" y="1965960"/>
            <a:ext cx="45582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Transformer Revolution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23660" y="2423160"/>
            <a:ext cx="501548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Transformer model introduced in 2017 enabled faster training and better context understanding using the attention mechanism.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4187952"/>
            <a:ext cx="541782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9B8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49808" y="4389120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749808" y="4389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207008" y="4370832"/>
            <a:ext cx="45582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Popular Models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49808" y="4828032"/>
            <a:ext cx="5015484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</a:t>
            </a:r>
            <a:endParaRPr lang="en-US" sz="1400" dirty="0"/>
          </a:p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</a:t>
            </a:r>
            <a:endParaRPr lang="en-US" sz="1400" dirty="0"/>
          </a:p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RoBERTa</a:t>
            </a:r>
            <a:endParaRPr lang="en-US" sz="1400" dirty="0"/>
          </a:p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T5</a:t>
            </a:r>
            <a:endParaRPr lang="en-US" sz="1400" dirty="0"/>
          </a:p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XLNet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222492" y="4187952"/>
            <a:ext cx="541782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AA9B8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423660" y="4389120"/>
            <a:ext cx="329184" cy="329184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28" name="Text 26"/>
          <p:cNvSpPr/>
          <p:nvPr/>
        </p:nvSpPr>
        <p:spPr>
          <a:xfrm>
            <a:off x="6423660" y="4389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880860" y="4370832"/>
            <a:ext cx="45582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423660" y="4828032"/>
            <a:ext cx="5015484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long context</a:t>
            </a:r>
            <a:endParaRPr lang="en-US" sz="1400" dirty="0"/>
          </a:p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human-like text</a:t>
            </a:r>
            <a:endParaRPr lang="en-US" sz="1400" dirty="0"/>
          </a:p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accuracy</a:t>
            </a:r>
            <a:endParaRPr lang="en-US" sz="1400" dirty="0"/>
          </a:p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▪"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multiple NLP tasks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 of Natural Language Processing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18311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1">
                <a:lumMod val="20000"/>
                <a:lumOff val="80000"/>
              </a:schemeClr>
            </a:gs>
            <a:gs pos="100000">
              <a:schemeClr val="accent2">
                <a:lumMod val="40000"/>
                <a:lumOff val="60000"/>
              </a:schemeClr>
            </a:gs>
            <a:gs pos="45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40080" y="749808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>
                    <a:lumMod val="5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28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10881360" cy="804672"/>
          </a:xfrm>
          <a:prstGeom prst="roundRect">
            <a:avLst>
              <a:gd name="adj" fmla="val 9091"/>
            </a:avLst>
          </a:prstGeom>
          <a:solidFill>
            <a:srgbClr val="233257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1819656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8196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17320" y="1600200"/>
            <a:ext cx="9921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9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has evolved from rule-based systems to advanced deep learning and Transformer-based models, significantly improving language understanding.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2532888"/>
            <a:ext cx="10881360" cy="804672"/>
          </a:xfrm>
          <a:prstGeom prst="roundRect">
            <a:avLst>
              <a:gd name="adj" fmla="val 9091"/>
            </a:avLst>
          </a:prstGeom>
          <a:solidFill>
            <a:srgbClr val="233257"/>
          </a:solidFill>
          <a:ln/>
        </p:spPr>
      </p:sp>
      <p:sp>
        <p:nvSpPr>
          <p:cNvPr id="10" name="Shape 8"/>
          <p:cNvSpPr/>
          <p:nvPr/>
        </p:nvSpPr>
        <p:spPr>
          <a:xfrm>
            <a:off x="868680" y="2752344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27523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17320" y="2532888"/>
            <a:ext cx="9921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9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and Machine Learning techniques enabled computers to learn from data, reducing dependence on manually written rules.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3465576"/>
            <a:ext cx="10881360" cy="804672"/>
          </a:xfrm>
          <a:prstGeom prst="roundRect">
            <a:avLst>
              <a:gd name="adj" fmla="val 9091"/>
            </a:avLst>
          </a:prstGeom>
          <a:solidFill>
            <a:srgbClr val="233257"/>
          </a:solidFill>
          <a:ln/>
        </p:spPr>
      </p:sp>
      <p:sp>
        <p:nvSpPr>
          <p:cNvPr id="14" name="Shape 12"/>
          <p:cNvSpPr/>
          <p:nvPr/>
        </p:nvSpPr>
        <p:spPr>
          <a:xfrm>
            <a:off x="868680" y="3685032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36850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17320" y="3465576"/>
            <a:ext cx="9921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9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NLP models such as BERT and GPT can understand context, generate human-like text, and perform multiple language tasks with high accuracy.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4398264"/>
            <a:ext cx="10881360" cy="804672"/>
          </a:xfrm>
          <a:prstGeom prst="roundRect">
            <a:avLst>
              <a:gd name="adj" fmla="val 9091"/>
            </a:avLst>
          </a:prstGeom>
          <a:solidFill>
            <a:srgbClr val="233257"/>
          </a:solidFill>
          <a:ln/>
        </p:spPr>
      </p:sp>
      <p:sp>
        <p:nvSpPr>
          <p:cNvPr id="18" name="Shape 16"/>
          <p:cNvSpPr/>
          <p:nvPr/>
        </p:nvSpPr>
        <p:spPr>
          <a:xfrm>
            <a:off x="868680" y="4617720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4617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417320" y="4398264"/>
            <a:ext cx="9921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9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is widely used in chatbots, virtual assistants, translation systems, search engines, healthcare, finance, and education, making technology more accessible and efficient.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40080" y="5330952"/>
            <a:ext cx="10881360" cy="804672"/>
          </a:xfrm>
          <a:prstGeom prst="roundRect">
            <a:avLst>
              <a:gd name="adj" fmla="val 9091"/>
            </a:avLst>
          </a:prstGeom>
          <a:solidFill>
            <a:srgbClr val="233257"/>
          </a:solidFill>
          <a:ln/>
        </p:spPr>
      </p:sp>
      <p:sp>
        <p:nvSpPr>
          <p:cNvPr id="22" name="Shape 20"/>
          <p:cNvSpPr/>
          <p:nvPr/>
        </p:nvSpPr>
        <p:spPr>
          <a:xfrm>
            <a:off x="868680" y="5550408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" y="55504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417320" y="5330952"/>
            <a:ext cx="9921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9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advancements in NLP will focus on multilingual support, ethical AI, explainability, and more intelligent human-computer interactions, driving innovation across various industries.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1">
                <a:lumMod val="20000"/>
                <a:lumOff val="80000"/>
              </a:schemeClr>
            </a:gs>
            <a:gs pos="100000">
              <a:schemeClr val="accent2">
                <a:lumMod val="40000"/>
                <a:lumOff val="60000"/>
              </a:schemeClr>
            </a:gs>
            <a:gs pos="45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A48D099-F5E9-A074-F346-8992514ABCB2}"/>
              </a:ext>
            </a:extLst>
          </p:cNvPr>
          <p:cNvSpPr txBox="1"/>
          <p:nvPr/>
        </p:nvSpPr>
        <p:spPr>
          <a:xfrm>
            <a:off x="3271520" y="2393017"/>
            <a:ext cx="542544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600" i="1" dirty="0">
                <a:solidFill>
                  <a:schemeClr val="accent2">
                    <a:lumMod val="50000"/>
                  </a:schemeClr>
                </a:solidFill>
                <a:latin typeface="Algerian" panose="04020705040A02060702" pitchFamily="82" charset="0"/>
              </a:rPr>
              <a:t>THANK YOU!!</a:t>
            </a:r>
          </a:p>
        </p:txBody>
      </p:sp>
    </p:spTree>
    <p:extLst>
      <p:ext uri="{BB962C8B-B14F-4D97-AF65-F5344CB8AC3E}">
        <p14:creationId xmlns:p14="http://schemas.microsoft.com/office/powerpoint/2010/main" val="26686139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602</Words>
  <Application>Microsoft Office PowerPoint</Application>
  <PresentationFormat>Widescreen</PresentationFormat>
  <Paragraphs>173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Algerian</vt:lpstr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akkupalliroja2425@gmail.com</cp:lastModifiedBy>
  <cp:revision>3</cp:revision>
  <dcterms:created xsi:type="dcterms:W3CDTF">2026-07-24T11:54:21Z</dcterms:created>
  <dcterms:modified xsi:type="dcterms:W3CDTF">2026-07-24T12:24:16Z</dcterms:modified>
</cp:coreProperties>
</file>