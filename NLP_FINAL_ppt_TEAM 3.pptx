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79" r:id="rId3"/>
    <p:sldId id="273" r:id="rId4"/>
    <p:sldId id="257" r:id="rId5"/>
    <p:sldId id="260" r:id="rId6"/>
    <p:sldId id="274" r:id="rId7"/>
    <p:sldId id="258" r:id="rId8"/>
    <p:sldId id="259" r:id="rId9"/>
    <p:sldId id="275" r:id="rId10"/>
    <p:sldId id="261" r:id="rId11"/>
    <p:sldId id="276" r:id="rId12"/>
    <p:sldId id="262" r:id="rId13"/>
    <p:sldId id="283" r:id="rId14"/>
    <p:sldId id="263" r:id="rId15"/>
    <p:sldId id="284" r:id="rId16"/>
    <p:sldId id="264" r:id="rId17"/>
    <p:sldId id="285" r:id="rId18"/>
    <p:sldId id="265" r:id="rId19"/>
    <p:sldId id="286" r:id="rId20"/>
    <p:sldId id="266" r:id="rId21"/>
    <p:sldId id="287" r:id="rId22"/>
    <p:sldId id="280" r:id="rId23"/>
    <p:sldId id="269" r:id="rId24"/>
    <p:sldId id="272" r:id="rId25"/>
    <p:sldId id="270" r:id="rId26"/>
    <p:sldId id="267" r:id="rId27"/>
    <p:sldId id="271" r:id="rId28"/>
    <p:sldId id="268"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9578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6" name="Text 4"/>
          <p:cNvSpPr/>
          <p:nvPr/>
        </p:nvSpPr>
        <p:spPr>
          <a:xfrm>
            <a:off x="651640" y="1913468"/>
            <a:ext cx="10560269" cy="2031796"/>
          </a:xfrm>
          <a:prstGeom prst="rect">
            <a:avLst/>
          </a:prstGeom>
          <a:solidFill>
            <a:schemeClr val="bg1">
              <a:lumMod val="95000"/>
            </a:schemeClr>
          </a:solidFill>
          <a:ln/>
        </p:spPr>
        <p:txBody>
          <a:bodyPr wrap="square" rtlCol="0" anchor="ctr"/>
          <a:lstStyle/>
          <a:p>
            <a:r>
              <a:rPr lang="en-US" sz="3600" b="1" dirty="0">
                <a:solidFill>
                  <a:schemeClr val="tx1">
                    <a:lumMod val="95000"/>
                    <a:lumOff val="5000"/>
                  </a:schemeClr>
                </a:solidFill>
                <a:latin typeface="Times New Roman" panose="02020603050405020304" pitchFamily="18" charset="0"/>
                <a:ea typeface="Cambria" pitchFamily="34" charset="-122"/>
                <a:cs typeface="Times New Roman" panose="02020603050405020304" pitchFamily="18" charset="0"/>
              </a:rPr>
              <a:t>News AI: </a:t>
            </a:r>
            <a:r>
              <a:rPr lang="en-US" sz="3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AI-Powered News Categorization, Summarization,</a:t>
            </a:r>
            <a:endParaRPr lang="en-US" sz="3600" b="1"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3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and Multilingual Recommendation System</a:t>
            </a:r>
            <a:endParaRPr lang="en-US" sz="36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5D42BE0-61A2-9225-CDF1-6A381A749ADC}"/>
              </a:ext>
            </a:extLst>
          </p:cNvPr>
          <p:cNvSpPr txBox="1"/>
          <p:nvPr/>
        </p:nvSpPr>
        <p:spPr>
          <a:xfrm>
            <a:off x="651640" y="4031078"/>
            <a:ext cx="9522373" cy="584775"/>
          </a:xfrm>
          <a:prstGeom prst="rect">
            <a:avLst/>
          </a:prstGeom>
          <a:solidFill>
            <a:schemeClr val="bg1">
              <a:lumMod val="95000"/>
            </a:schemeClr>
          </a:solidFill>
        </p:spPr>
        <p:txBody>
          <a:bodyPr wrap="square" rtlCol="0">
            <a:spAutoFit/>
          </a:bodyPr>
          <a:lstStyle/>
          <a:p>
            <a:r>
              <a:rPr lang="en-IN" sz="3200" b="1" i="1" dirty="0">
                <a:solidFill>
                  <a:schemeClr val="tx1">
                    <a:lumMod val="95000"/>
                    <a:lumOff val="5000"/>
                  </a:schemeClr>
                </a:solidFill>
                <a:latin typeface="Times New Roman" panose="02020603050405020304" pitchFamily="18" charset="0"/>
                <a:cs typeface="Times New Roman" panose="02020603050405020304" pitchFamily="18" charset="0"/>
              </a:rPr>
              <a:t>DSA0305- Natural Language Processing</a:t>
            </a:r>
          </a:p>
        </p:txBody>
      </p:sp>
      <p:sp>
        <p:nvSpPr>
          <p:cNvPr id="17" name="TextBox 16">
            <a:extLst>
              <a:ext uri="{FF2B5EF4-FFF2-40B4-BE49-F238E27FC236}">
                <a16:creationId xmlns:a16="http://schemas.microsoft.com/office/drawing/2014/main" id="{EB79C35C-B84F-860B-C42A-8D91CE902A1D}"/>
              </a:ext>
            </a:extLst>
          </p:cNvPr>
          <p:cNvSpPr txBox="1"/>
          <p:nvPr/>
        </p:nvSpPr>
        <p:spPr>
          <a:xfrm>
            <a:off x="753240" y="5188219"/>
            <a:ext cx="3127880" cy="646331"/>
          </a:xfrm>
          <a:prstGeom prst="rect">
            <a:avLst/>
          </a:prstGeom>
          <a:solidFill>
            <a:schemeClr val="bg1">
              <a:lumMod val="95000"/>
            </a:schemeClr>
          </a:solidFill>
        </p:spPr>
        <p:txBody>
          <a:bodyPr wrap="square" rtlCol="0">
            <a:spAutoFit/>
          </a:bodyPr>
          <a:lstStyle/>
          <a:p>
            <a:r>
              <a:rPr lang="en-IN" b="1" dirty="0">
                <a:latin typeface="Times New Roman" panose="02020603050405020304" pitchFamily="18" charset="0"/>
                <a:cs typeface="Times New Roman" panose="02020603050405020304" pitchFamily="18" charset="0"/>
              </a:rPr>
              <a:t>GUIDED BY:</a:t>
            </a:r>
          </a:p>
          <a:p>
            <a:r>
              <a:rPr lang="en-IN" b="1" dirty="0">
                <a:latin typeface="Times New Roman" panose="02020603050405020304" pitchFamily="18" charset="0"/>
                <a:cs typeface="Times New Roman" panose="02020603050405020304" pitchFamily="18" charset="0"/>
              </a:rPr>
              <a:t>Dr K ANBAZHAGAN</a:t>
            </a:r>
          </a:p>
        </p:txBody>
      </p:sp>
      <p:sp>
        <p:nvSpPr>
          <p:cNvPr id="18" name="TextBox 17">
            <a:extLst>
              <a:ext uri="{FF2B5EF4-FFF2-40B4-BE49-F238E27FC236}">
                <a16:creationId xmlns:a16="http://schemas.microsoft.com/office/drawing/2014/main" id="{EEB3E1CD-7379-D967-3B25-903FCDDFEB72}"/>
              </a:ext>
            </a:extLst>
          </p:cNvPr>
          <p:cNvSpPr txBox="1"/>
          <p:nvPr/>
        </p:nvSpPr>
        <p:spPr>
          <a:xfrm>
            <a:off x="7579360" y="4724122"/>
            <a:ext cx="4185920" cy="1754326"/>
          </a:xfrm>
          <a:prstGeom prst="rect">
            <a:avLst/>
          </a:prstGeom>
          <a:solidFill>
            <a:schemeClr val="bg1">
              <a:lumMod val="95000"/>
            </a:schemeClr>
          </a:solidFill>
        </p:spPr>
        <p:txBody>
          <a:bodyPr wrap="square" rtlCol="0">
            <a:spAutoFit/>
          </a:bodyPr>
          <a:lstStyle/>
          <a:p>
            <a:r>
              <a:rPr lang="en-IN" b="1" dirty="0">
                <a:latin typeface="Times New Roman" panose="02020603050405020304" pitchFamily="18" charset="0"/>
                <a:cs typeface="Times New Roman" panose="02020603050405020304" pitchFamily="18" charset="0"/>
              </a:rPr>
              <a:t>PRSENTED BY:</a:t>
            </a:r>
          </a:p>
          <a:p>
            <a:r>
              <a:rPr lang="en-IN" dirty="0">
                <a:latin typeface="Times New Roman" panose="02020603050405020304" pitchFamily="18" charset="0"/>
                <a:cs typeface="Times New Roman" panose="02020603050405020304" pitchFamily="18" charset="0"/>
              </a:rPr>
              <a:t>Bhavana Allaparthi [192472141] </a:t>
            </a:r>
          </a:p>
          <a:p>
            <a:r>
              <a:rPr lang="en-IN" dirty="0">
                <a:latin typeface="Times New Roman" panose="02020603050405020304" pitchFamily="18" charset="0"/>
                <a:cs typeface="Times New Roman" panose="02020603050405020304" pitchFamily="18" charset="0"/>
              </a:rPr>
              <a:t>Pasyavula Gayathri [192424324]</a:t>
            </a:r>
          </a:p>
          <a:p>
            <a:r>
              <a:rPr lang="en-IN" dirty="0">
                <a:latin typeface="Times New Roman" panose="02020603050405020304" pitchFamily="18" charset="0"/>
                <a:cs typeface="Times New Roman" panose="02020603050405020304" pitchFamily="18" charset="0"/>
              </a:rPr>
              <a:t>Cherukuri Likhitha  [192424239]</a:t>
            </a:r>
          </a:p>
          <a:p>
            <a:r>
              <a:rPr lang="en-IN" dirty="0">
                <a:latin typeface="Times New Roman" panose="02020603050405020304" pitchFamily="18" charset="0"/>
                <a:cs typeface="Times New Roman" panose="02020603050405020304" pitchFamily="18" charset="0"/>
              </a:rPr>
              <a:t>C Prathibha [192424293]</a:t>
            </a:r>
          </a:p>
          <a:p>
            <a:r>
              <a:rPr lang="en-IN" dirty="0">
                <a:latin typeface="Times New Roman" panose="02020603050405020304" pitchFamily="18" charset="0"/>
                <a:cs typeface="Times New Roman" panose="02020603050405020304" pitchFamily="18" charset="0"/>
              </a:rPr>
              <a:t>A Roja [192424226]</a:t>
            </a:r>
          </a:p>
        </p:txBody>
      </p:sp>
      <p:pic>
        <p:nvPicPr>
          <p:cNvPr id="20" name="Picture 19">
            <a:extLst>
              <a:ext uri="{FF2B5EF4-FFF2-40B4-BE49-F238E27FC236}">
                <a16:creationId xmlns:a16="http://schemas.microsoft.com/office/drawing/2014/main" id="{DE75F636-6C66-A328-20EA-19049B512292}"/>
              </a:ext>
            </a:extLst>
          </p:cNvPr>
          <p:cNvPicPr>
            <a:picLocks noChangeAspect="1"/>
          </p:cNvPicPr>
          <p:nvPr/>
        </p:nvPicPr>
        <p:blipFill>
          <a:blip r:embed="rId3"/>
          <a:stretch>
            <a:fillRect/>
          </a:stretch>
        </p:blipFill>
        <p:spPr>
          <a:xfrm>
            <a:off x="330200" y="213925"/>
            <a:ext cx="11531600" cy="1623060"/>
          </a:xfrm>
          <a:prstGeom prst="rect">
            <a:avLst/>
          </a:prstGeom>
        </p:spPr>
      </p:pic>
      <p:sp>
        <p:nvSpPr>
          <p:cNvPr id="22" name="Shape 2">
            <a:extLst>
              <a:ext uri="{FF2B5EF4-FFF2-40B4-BE49-F238E27FC236}">
                <a16:creationId xmlns:a16="http://schemas.microsoft.com/office/drawing/2014/main" id="{F5D40A76-865A-3E5F-F9E5-EC4BC50C42BA}"/>
              </a:ext>
            </a:extLst>
          </p:cNvPr>
          <p:cNvSpPr/>
          <p:nvPr/>
        </p:nvSpPr>
        <p:spPr>
          <a:xfrm>
            <a:off x="753240" y="3945264"/>
            <a:ext cx="1979800" cy="0"/>
          </a:xfrm>
          <a:prstGeom prst="line">
            <a:avLst/>
          </a:prstGeom>
          <a:noFill/>
          <a:ln w="25400">
            <a:solidFill>
              <a:srgbClr val="990011"/>
            </a:solidFill>
            <a:prstDash val="solid"/>
          </a:ln>
        </p:spPr>
        <p:txBody>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8E196E6C-0D25-C914-D2B4-D087EB5EBB55}"/>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960029E7-07D1-C66F-4BAD-809E41769C86}"/>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7" name="TextBox 6">
            <a:extLst>
              <a:ext uri="{FF2B5EF4-FFF2-40B4-BE49-F238E27FC236}">
                <a16:creationId xmlns:a16="http://schemas.microsoft.com/office/drawing/2014/main" id="{0279AD91-181B-C719-8155-3F4B3C0A7211}"/>
              </a:ext>
            </a:extLst>
          </p:cNvPr>
          <p:cNvSpPr txBox="1"/>
          <p:nvPr/>
        </p:nvSpPr>
        <p:spPr>
          <a:xfrm>
            <a:off x="4066161" y="301557"/>
            <a:ext cx="4591456"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OVERVIEW</a:t>
            </a:r>
          </a:p>
        </p:txBody>
      </p:sp>
      <p:sp>
        <p:nvSpPr>
          <p:cNvPr id="8" name="TextBox 7">
            <a:extLst>
              <a:ext uri="{FF2B5EF4-FFF2-40B4-BE49-F238E27FC236}">
                <a16:creationId xmlns:a16="http://schemas.microsoft.com/office/drawing/2014/main" id="{EF6289D1-A66F-9EB6-4153-5C2543BDFE34}"/>
              </a:ext>
            </a:extLst>
          </p:cNvPr>
          <p:cNvSpPr txBox="1"/>
          <p:nvPr/>
        </p:nvSpPr>
        <p:spPr>
          <a:xfrm>
            <a:off x="1723850" y="1395837"/>
            <a:ext cx="5280066" cy="5016758"/>
          </a:xfrm>
          <a:prstGeom prst="rect">
            <a:avLst/>
          </a:prstGeom>
          <a:solidFill>
            <a:schemeClr val="bg1">
              <a:lumMod val="95000"/>
            </a:schemeClr>
          </a:solidFill>
        </p:spPr>
        <p:txBody>
          <a:bodyPr wrap="square" rtlCol="0">
            <a:spAutoFit/>
          </a:bodyPr>
          <a:lstStyle/>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Overview</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Abstract</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Introduction</a:t>
            </a:r>
          </a:p>
          <a:p>
            <a:pPr indent="-342900">
              <a:buFont typeface="Wingdings" panose="05000000000000000000" pitchFamily="2" charset="2"/>
              <a:buChar char="q"/>
            </a:pPr>
            <a:r>
              <a:rPr lang="en-IN" sz="1600" dirty="0">
                <a:solidFill>
                  <a:srgbClr val="0D0D0D"/>
                </a:solidFill>
                <a:latin typeface="Times New Roman" panose="02020603050405020304" pitchFamily="18" charset="0"/>
                <a:cs typeface="Times New Roman" panose="02020603050405020304" pitchFamily="18" charset="0"/>
              </a:rPr>
              <a:t>Literature Review</a:t>
            </a:r>
            <a:endParaRPr lang="en-IN" sz="1600" b="0" i="0" dirty="0">
              <a:solidFill>
                <a:srgbClr val="0D0D0D"/>
              </a:solidFill>
              <a:effectLst/>
              <a:latin typeface="Times New Roman" panose="02020603050405020304" pitchFamily="18" charset="0"/>
              <a:cs typeface="Times New Roman" panose="02020603050405020304" pitchFamily="18" charset="0"/>
            </a:endParaRP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Existing System</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Problem Identification</a:t>
            </a:r>
          </a:p>
          <a:p>
            <a:pPr marL="0" marR="0" lvl="0" indent="-342900">
              <a:buFont typeface="Wingdings" panose="05000000000000000000" pitchFamily="2" charset="2"/>
              <a:buChar char="q"/>
            </a:pPr>
            <a:r>
              <a:rPr lang="en-IN" sz="1600" dirty="0">
                <a:solidFill>
                  <a:srgbClr val="0D0D0D"/>
                </a:solidFill>
                <a:latin typeface="Times New Roman" panose="02020603050405020304" pitchFamily="18" charset="0"/>
                <a:cs typeface="Times New Roman" panose="02020603050405020304" pitchFamily="18" charset="0"/>
              </a:rPr>
              <a:t>Objectives</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Proposed System</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Architecture Diagram</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Algorithms</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Module 1 – News Data Collection &amp; Preprocessing</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Module 2 – AI-Based News Categorization</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Module 3 – AI News Summarization</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Module 4 – Multilingual Translation</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Module 5 – Personalized Recommendation</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Coding &amp; Output</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Results and Discussion</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Conclusion</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Future Enhancement</a:t>
            </a:r>
          </a:p>
          <a:p>
            <a:pPr marL="0" marR="0" lvl="0" indent="-342900">
              <a:buFont typeface="Wingdings" panose="05000000000000000000" pitchFamily="2" charset="2"/>
              <a:buChar char="q"/>
            </a:pPr>
            <a:r>
              <a:rPr lang="en-IN" sz="1600" b="0" i="0" dirty="0">
                <a:solidFill>
                  <a:srgbClr val="0D0D0D"/>
                </a:solidFill>
                <a:effectLst/>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800091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1CDC3282-3F9C-5FB7-A5F2-D6CA2FE8ED6C}"/>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E59923C7-4037-47AE-982C-3F4DF1E2688D}"/>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6" name="TextBox 5">
            <a:extLst>
              <a:ext uri="{FF2B5EF4-FFF2-40B4-BE49-F238E27FC236}">
                <a16:creationId xmlns:a16="http://schemas.microsoft.com/office/drawing/2014/main" id="{EE22D88A-2EAC-1954-6C82-2A98C742B7BD}"/>
              </a:ext>
            </a:extLst>
          </p:cNvPr>
          <p:cNvSpPr txBox="1"/>
          <p:nvPr/>
        </p:nvSpPr>
        <p:spPr>
          <a:xfrm>
            <a:off x="3677055" y="301557"/>
            <a:ext cx="4591456"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ABSTRACT</a:t>
            </a:r>
          </a:p>
        </p:txBody>
      </p:sp>
      <p:sp>
        <p:nvSpPr>
          <p:cNvPr id="7" name="TextBox 6">
            <a:extLst>
              <a:ext uri="{FF2B5EF4-FFF2-40B4-BE49-F238E27FC236}">
                <a16:creationId xmlns:a16="http://schemas.microsoft.com/office/drawing/2014/main" id="{27BDD145-2660-A93A-54C7-E5655FF657C3}"/>
              </a:ext>
            </a:extLst>
          </p:cNvPr>
          <p:cNvSpPr txBox="1"/>
          <p:nvPr/>
        </p:nvSpPr>
        <p:spPr>
          <a:xfrm>
            <a:off x="1867710" y="1634247"/>
            <a:ext cx="8735439" cy="4439933"/>
          </a:xfrm>
          <a:prstGeom prst="rect">
            <a:avLst/>
          </a:prstGeom>
          <a:solidFill>
            <a:schemeClr val="bg1">
              <a:lumMod val="95000"/>
            </a:schemeClr>
          </a:solidFill>
        </p:spPr>
        <p:txBody>
          <a:bodyPr wrap="square" rtlCol="0">
            <a:spAutoFit/>
          </a:bodyPr>
          <a:lstStyle/>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News AI is an intelligent news processing and recommendation system designed to help users consume digital news efficiently.</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uses Artificial Intelligence and Natural Language Processing (NLP) to automatically collect news, categorize articles, generate concise summaries, translate content into multiple languages, and recommend relevant news based on user interests.</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proposed system reduces information overload and reading time while providing users with personalized, summarized, categorized, and multilingual news through a single platform.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0585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0" y="347472"/>
            <a:ext cx="5039360" cy="685800"/>
          </a:xfrm>
          <a:prstGeom prst="rect">
            <a:avLst/>
          </a:prstGeom>
          <a:noFill/>
          <a:ln/>
        </p:spPr>
        <p:txBody>
          <a:bodyPr wrap="square" rtlCol="0" anchor="ctr"/>
          <a:lstStyle/>
          <a:p>
            <a:pPr marL="0" indent="0" algn="ctr">
              <a:buNone/>
            </a:pPr>
            <a:r>
              <a:rPr lang="en-US" sz="3200" b="1" kern="0" spc="200" dirty="0">
                <a:latin typeface="Times New Roman" panose="02020603050405020304" pitchFamily="18" charset="0"/>
                <a:ea typeface="Calibri" pitchFamily="34" charset="-122"/>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
        <p:nvSpPr>
          <p:cNvPr id="23" name="Text 21"/>
          <p:cNvSpPr/>
          <p:nvPr/>
        </p:nvSpPr>
        <p:spPr>
          <a:xfrm>
            <a:off x="11365992" y="6355080"/>
            <a:ext cx="548640" cy="32004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02</a:t>
            </a:r>
            <a:endParaRPr lang="en-US" sz="1600" dirty="0">
              <a:latin typeface="Times New Roman" panose="02020603050405020304" pitchFamily="18" charset="0"/>
              <a:cs typeface="Times New Roman" panose="02020603050405020304" pitchFamily="18" charset="0"/>
            </a:endParaRPr>
          </a:p>
        </p:txBody>
      </p:sp>
      <p:pic>
        <p:nvPicPr>
          <p:cNvPr id="25" name="Picture 24" descr="SIMATS Transport - Apps on Google Play">
            <a:extLst>
              <a:ext uri="{FF2B5EF4-FFF2-40B4-BE49-F238E27FC236}">
                <a16:creationId xmlns:a16="http://schemas.microsoft.com/office/drawing/2014/main" id="{D05DBBB7-2CAC-F684-4C9D-5BE81E7BD90E}"/>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27" name="Picture 26" descr="SIMATS CGPA Calculator">
            <a:extLst>
              <a:ext uri="{FF2B5EF4-FFF2-40B4-BE49-F238E27FC236}">
                <a16:creationId xmlns:a16="http://schemas.microsoft.com/office/drawing/2014/main" id="{6A22DBE7-6C26-8BBC-8660-905FFCE03F22}"/>
              </a:ext>
            </a:extLst>
          </p:cNvPr>
          <p:cNvPicPr>
            <a:picLocks noChangeAspect="1"/>
          </p:cNvPicPr>
          <p:nvPr/>
        </p:nvPicPr>
        <p:blipFill>
          <a:blip r:embed="rId4"/>
          <a:stretch>
            <a:fillRect/>
          </a:stretch>
        </p:blipFill>
        <p:spPr>
          <a:xfrm>
            <a:off x="10486697" y="148194"/>
            <a:ext cx="1217623" cy="1038108"/>
          </a:xfrm>
          <a:prstGeom prst="rect">
            <a:avLst/>
          </a:prstGeom>
        </p:spPr>
      </p:pic>
      <p:sp>
        <p:nvSpPr>
          <p:cNvPr id="3" name="TextBox 2">
            <a:extLst>
              <a:ext uri="{FF2B5EF4-FFF2-40B4-BE49-F238E27FC236}">
                <a16:creationId xmlns:a16="http://schemas.microsoft.com/office/drawing/2014/main" id="{D56620D7-ABAE-8658-E2DE-64573D11711F}"/>
              </a:ext>
            </a:extLst>
          </p:cNvPr>
          <p:cNvSpPr txBox="1"/>
          <p:nvPr/>
        </p:nvSpPr>
        <p:spPr>
          <a:xfrm>
            <a:off x="1532322" y="1809345"/>
            <a:ext cx="9289915" cy="4439933"/>
          </a:xfrm>
          <a:prstGeom prst="rect">
            <a:avLst/>
          </a:prstGeom>
          <a:solidFill>
            <a:schemeClr val="bg1">
              <a:lumMod val="95000"/>
            </a:schemeClr>
          </a:solidFill>
        </p:spPr>
        <p:txBody>
          <a:bodyPr wrap="square" rtlCol="0">
            <a:spAutoFit/>
          </a:bodyPr>
          <a:lstStyle/>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growth of digital media has resulted in a huge amount of news being published every day.</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Users often find it difficult to identify relevant and trustworthy information.</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Reading complete articles requires considerable time.</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Language barriers make news inaccessible to users who prefer regional languages.</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Traditional news platforms provide limited personalization.</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News AI combines NLP, Machine Learning, translation, summarization, and recommendation techniques.</a:t>
            </a:r>
          </a:p>
          <a:p>
            <a:pPr marL="285750" indent="-285750" algn="just">
              <a:lnSpc>
                <a:spcPct val="2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main objective is to provide users with relevant news in a faster and easier manner.</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05DDB5DE-43C1-30D6-4205-357FD32F4D91}"/>
              </a:ext>
            </a:extLst>
          </p:cNvPr>
          <p:cNvSpPr txBox="1"/>
          <p:nvPr/>
        </p:nvSpPr>
        <p:spPr>
          <a:xfrm>
            <a:off x="3870960" y="374860"/>
            <a:ext cx="492760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LITERATURE REVIEW</a:t>
            </a:r>
          </a:p>
        </p:txBody>
      </p:sp>
      <p:graphicFrame>
        <p:nvGraphicFramePr>
          <p:cNvPr id="21" name="Table 20">
            <a:extLst>
              <a:ext uri="{FF2B5EF4-FFF2-40B4-BE49-F238E27FC236}">
                <a16:creationId xmlns:a16="http://schemas.microsoft.com/office/drawing/2014/main" id="{7632EABD-B22E-9AFD-961C-A2286E9552E8}"/>
              </a:ext>
            </a:extLst>
          </p:cNvPr>
          <p:cNvGraphicFramePr>
            <a:graphicFrameLocks noGrp="1"/>
          </p:cNvGraphicFramePr>
          <p:nvPr>
            <p:extLst>
              <p:ext uri="{D42A27DB-BD31-4B8C-83A1-F6EECF244321}">
                <p14:modId xmlns:p14="http://schemas.microsoft.com/office/powerpoint/2010/main" val="562473637"/>
              </p:ext>
            </p:extLst>
          </p:nvPr>
        </p:nvGraphicFramePr>
        <p:xfrm>
          <a:off x="995680" y="1429384"/>
          <a:ext cx="10495278" cy="5032374"/>
        </p:xfrm>
        <a:graphic>
          <a:graphicData uri="http://schemas.openxmlformats.org/drawingml/2006/table">
            <a:tbl>
              <a:tblPr>
                <a:tableStyleId>{073A0DAA-6AF3-43AB-8588-CEC1D06C72B9}</a:tableStyleId>
              </a:tblPr>
              <a:tblGrid>
                <a:gridCol w="893081">
                  <a:extLst>
                    <a:ext uri="{9D8B030D-6E8A-4147-A177-3AD203B41FA5}">
                      <a16:colId xmlns:a16="http://schemas.microsoft.com/office/drawing/2014/main" val="161132093"/>
                    </a:ext>
                  </a:extLst>
                </a:gridCol>
                <a:gridCol w="2747196">
                  <a:extLst>
                    <a:ext uri="{9D8B030D-6E8A-4147-A177-3AD203B41FA5}">
                      <a16:colId xmlns:a16="http://schemas.microsoft.com/office/drawing/2014/main" val="17896883"/>
                    </a:ext>
                  </a:extLst>
                </a:gridCol>
                <a:gridCol w="1749956">
                  <a:extLst>
                    <a:ext uri="{9D8B030D-6E8A-4147-A177-3AD203B41FA5}">
                      <a16:colId xmlns:a16="http://schemas.microsoft.com/office/drawing/2014/main" val="1779952614"/>
                    </a:ext>
                  </a:extLst>
                </a:gridCol>
                <a:gridCol w="2730789">
                  <a:extLst>
                    <a:ext uri="{9D8B030D-6E8A-4147-A177-3AD203B41FA5}">
                      <a16:colId xmlns:a16="http://schemas.microsoft.com/office/drawing/2014/main" val="978835958"/>
                    </a:ext>
                  </a:extLst>
                </a:gridCol>
                <a:gridCol w="2374256">
                  <a:extLst>
                    <a:ext uri="{9D8B030D-6E8A-4147-A177-3AD203B41FA5}">
                      <a16:colId xmlns:a16="http://schemas.microsoft.com/office/drawing/2014/main" val="3602556608"/>
                    </a:ext>
                  </a:extLst>
                </a:gridCol>
              </a:tblGrid>
              <a:tr h="379802">
                <a:tc>
                  <a:txBody>
                    <a:bodyPr/>
                    <a:lstStyle/>
                    <a:p>
                      <a:pPr algn="ctr">
                        <a:buNone/>
                      </a:pPr>
                      <a:r>
                        <a:rPr lang="en-IN" sz="1600" b="1" dirty="0" err="1">
                          <a:latin typeface="Times New Roman" panose="02020603050405020304" pitchFamily="18" charset="0"/>
                          <a:cs typeface="Times New Roman" panose="02020603050405020304" pitchFamily="18" charset="0"/>
                        </a:rPr>
                        <a:t>S.No</a:t>
                      </a:r>
                      <a:endParaRPr lang="en-IN" sz="1600" b="1" dirty="0">
                        <a:latin typeface="Times New Roman" panose="02020603050405020304" pitchFamily="18" charset="0"/>
                        <a:cs typeface="Times New Roman" panose="02020603050405020304" pitchFamily="18" charset="0"/>
                      </a:endParaRPr>
                    </a:p>
                  </a:txBody>
                  <a:tcPr marL="82101" marR="82101" marT="41050" marB="41050" anchor="ctr"/>
                </a:tc>
                <a:tc>
                  <a:txBody>
                    <a:bodyPr/>
                    <a:lstStyle/>
                    <a:p>
                      <a:pPr algn="ctr">
                        <a:buNone/>
                      </a:pPr>
                      <a:r>
                        <a:rPr lang="en-IN" sz="1600" b="1" dirty="0">
                          <a:latin typeface="Times New Roman" panose="02020603050405020304" pitchFamily="18" charset="0"/>
                          <a:cs typeface="Times New Roman" panose="02020603050405020304" pitchFamily="18" charset="0"/>
                        </a:rPr>
                        <a:t>Author(s)</a:t>
                      </a:r>
                    </a:p>
                  </a:txBody>
                  <a:tcPr marL="82101" marR="82101" marT="41050" marB="41050" anchor="ctr"/>
                </a:tc>
                <a:tc>
                  <a:txBody>
                    <a:bodyPr/>
                    <a:lstStyle/>
                    <a:p>
                      <a:pPr algn="ctr">
                        <a:buNone/>
                      </a:pPr>
                      <a:r>
                        <a:rPr lang="en-IN" sz="1600" b="1" dirty="0">
                          <a:latin typeface="Times New Roman" panose="02020603050405020304" pitchFamily="18" charset="0"/>
                          <a:cs typeface="Times New Roman" panose="02020603050405020304" pitchFamily="18" charset="0"/>
                        </a:rPr>
                        <a:t>Year</a:t>
                      </a:r>
                    </a:p>
                  </a:txBody>
                  <a:tcPr marL="82101" marR="82101" marT="41050" marB="41050" anchor="ctr"/>
                </a:tc>
                <a:tc>
                  <a:txBody>
                    <a:bodyPr/>
                    <a:lstStyle/>
                    <a:p>
                      <a:pPr algn="ctr">
                        <a:buNone/>
                      </a:pPr>
                      <a:r>
                        <a:rPr lang="en-IN" sz="1600" b="1" dirty="0">
                          <a:latin typeface="Times New Roman" panose="02020603050405020304" pitchFamily="18" charset="0"/>
                          <a:cs typeface="Times New Roman" panose="02020603050405020304" pitchFamily="18" charset="0"/>
                        </a:rPr>
                        <a:t>Research Work</a:t>
                      </a:r>
                    </a:p>
                  </a:txBody>
                  <a:tcPr marL="82101" marR="82101" marT="41050" marB="41050" anchor="ctr"/>
                </a:tc>
                <a:tc>
                  <a:txBody>
                    <a:bodyPr/>
                    <a:lstStyle/>
                    <a:p>
                      <a:pPr algn="ctr">
                        <a:buNone/>
                      </a:pPr>
                      <a:r>
                        <a:rPr lang="en-IN" sz="1600" b="1" dirty="0">
                          <a:latin typeface="Times New Roman" panose="02020603050405020304" pitchFamily="18" charset="0"/>
                          <a:cs typeface="Times New Roman" panose="02020603050405020304" pitchFamily="18" charset="0"/>
                        </a:rPr>
                        <a:t>Key Contribution</a:t>
                      </a:r>
                    </a:p>
                  </a:txBody>
                  <a:tcPr marL="82101" marR="82101" marT="41050" marB="41050" anchor="ctr"/>
                </a:tc>
                <a:extLst>
                  <a:ext uri="{0D108BD9-81ED-4DB2-BD59-A6C34878D82A}">
                    <a16:rowId xmlns:a16="http://schemas.microsoft.com/office/drawing/2014/main" val="4154302942"/>
                  </a:ext>
                </a:extLst>
              </a:tr>
              <a:tr h="949504">
                <a:tc>
                  <a:txBody>
                    <a:bodyPr/>
                    <a:lstStyle/>
                    <a:p>
                      <a:pPr algn="ctr">
                        <a:buNone/>
                      </a:pPr>
                      <a:r>
                        <a:rPr lang="en-IN" sz="1600" dirty="0">
                          <a:latin typeface="Times New Roman" panose="02020603050405020304" pitchFamily="18" charset="0"/>
                          <a:cs typeface="Times New Roman" panose="02020603050405020304" pitchFamily="18" charset="0"/>
                        </a:rPr>
                        <a:t>1</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Aishwarya </a:t>
                      </a:r>
                      <a:r>
                        <a:rPr lang="en-IN" sz="1600" dirty="0" err="1">
                          <a:latin typeface="Times New Roman" panose="02020603050405020304" pitchFamily="18" charset="0"/>
                          <a:cs typeface="Times New Roman" panose="02020603050405020304" pitchFamily="18" charset="0"/>
                        </a:rPr>
                        <a:t>Mirashi</a:t>
                      </a:r>
                      <a:r>
                        <a:rPr lang="en-IN" sz="1600" dirty="0">
                          <a:latin typeface="Times New Roman" panose="02020603050405020304" pitchFamily="18" charset="0"/>
                          <a:cs typeface="Times New Roman" panose="02020603050405020304" pitchFamily="18" charset="0"/>
                        </a:rPr>
                        <a:t> et al.</a:t>
                      </a:r>
                    </a:p>
                  </a:txBody>
                  <a:tcPr marL="82101" marR="82101" marT="41050" marB="41050" anchor="ctr"/>
                </a:tc>
                <a:tc>
                  <a:txBody>
                    <a:bodyPr/>
                    <a:lstStyle/>
                    <a:p>
                      <a:pPr algn="ctr">
                        <a:buNone/>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2024</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Indic News Classification</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Multilingual news classification for 10 Indian languages.</a:t>
                      </a:r>
                    </a:p>
                  </a:txBody>
                  <a:tcPr marL="82101" marR="82101" marT="41050" marB="41050" anchor="ctr"/>
                </a:tc>
                <a:extLst>
                  <a:ext uri="{0D108BD9-81ED-4DB2-BD59-A6C34878D82A}">
                    <a16:rowId xmlns:a16="http://schemas.microsoft.com/office/drawing/2014/main" val="1019276436"/>
                  </a:ext>
                </a:extLst>
              </a:tr>
              <a:tr h="1234356">
                <a:tc>
                  <a:txBody>
                    <a:bodyPr/>
                    <a:lstStyle/>
                    <a:p>
                      <a:pPr algn="ctr">
                        <a:buNone/>
                      </a:pPr>
                      <a:r>
                        <a:rPr lang="en-IN" sz="1600">
                          <a:latin typeface="Times New Roman" panose="02020603050405020304" pitchFamily="18" charset="0"/>
                          <a:cs typeface="Times New Roman" panose="02020603050405020304" pitchFamily="18" charset="0"/>
                        </a:rPr>
                        <a:t>2</a:t>
                      </a:r>
                    </a:p>
                  </a:txBody>
                  <a:tcPr marL="82101" marR="82101" marT="41050" marB="41050" anchor="ctr"/>
                </a:tc>
                <a:tc>
                  <a:txBody>
                    <a:bodyPr/>
                    <a:lstStyle/>
                    <a:p>
                      <a:pPr algn="ctr">
                        <a:buNone/>
                      </a:pPr>
                      <a:r>
                        <a:rPr lang="en-IN" sz="1600" dirty="0" err="1">
                          <a:latin typeface="Times New Roman" panose="02020603050405020304" pitchFamily="18" charset="0"/>
                          <a:cs typeface="Times New Roman" panose="02020603050405020304" pitchFamily="18" charset="0"/>
                        </a:rPr>
                        <a:t>Abhinaba</a:t>
                      </a:r>
                      <a:r>
                        <a:rPr lang="en-IN" sz="1600" dirty="0">
                          <a:latin typeface="Times New Roman" panose="02020603050405020304" pitchFamily="18" charset="0"/>
                          <a:cs typeface="Times New Roman" panose="02020603050405020304" pitchFamily="18" charset="0"/>
                        </a:rPr>
                        <a:t> Bala et al.</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2024</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Mizo News Summarization</a:t>
                      </a:r>
                    </a:p>
                  </a:txBody>
                  <a:tcPr marL="82101" marR="82101" marT="41050" marB="41050" anchor="ctr"/>
                </a:tc>
                <a:tc>
                  <a:txBody>
                    <a:bodyPr/>
                    <a:lstStyle/>
                    <a:p>
                      <a:pPr algn="ctr">
                        <a:buNone/>
                      </a:pPr>
                      <a:r>
                        <a:rPr lang="en-IN" sz="1600">
                          <a:latin typeface="Times New Roman" panose="02020603050405020304" pitchFamily="18" charset="0"/>
                          <a:cs typeface="Times New Roman" panose="02020603050405020304" pitchFamily="18" charset="0"/>
                        </a:rPr>
                        <a:t>Developed a method for summarizing Mizo news articles.</a:t>
                      </a:r>
                    </a:p>
                  </a:txBody>
                  <a:tcPr marL="82101" marR="82101" marT="41050" marB="41050" anchor="ctr"/>
                </a:tc>
                <a:extLst>
                  <a:ext uri="{0D108BD9-81ED-4DB2-BD59-A6C34878D82A}">
                    <a16:rowId xmlns:a16="http://schemas.microsoft.com/office/drawing/2014/main" val="46177237"/>
                  </a:ext>
                </a:extLst>
              </a:tr>
              <a:tr h="1234356">
                <a:tc>
                  <a:txBody>
                    <a:bodyPr/>
                    <a:lstStyle/>
                    <a:p>
                      <a:pPr algn="ctr">
                        <a:buNone/>
                      </a:pPr>
                      <a:r>
                        <a:rPr lang="en-IN" sz="1600">
                          <a:latin typeface="Times New Roman" panose="02020603050405020304" pitchFamily="18" charset="0"/>
                          <a:cs typeface="Times New Roman" panose="02020603050405020304" pitchFamily="18" charset="0"/>
                        </a:rPr>
                        <a:t>3</a:t>
                      </a:r>
                    </a:p>
                  </a:txBody>
                  <a:tcPr marL="82101" marR="82101" marT="41050" marB="41050" anchor="ctr"/>
                </a:tc>
                <a:tc>
                  <a:txBody>
                    <a:bodyPr/>
                    <a:lstStyle/>
                    <a:p>
                      <a:pPr algn="ctr">
                        <a:buNone/>
                      </a:pPr>
                      <a:r>
                        <a:rPr lang="en-IN" sz="1600">
                          <a:latin typeface="Times New Roman" panose="02020603050405020304" pitchFamily="18" charset="0"/>
                          <a:cs typeface="Times New Roman" panose="02020603050405020304" pitchFamily="18" charset="0"/>
                        </a:rPr>
                        <a:t>K. M. Rani Krishna et al.</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2025</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News Text Summarization</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Evaluated deep-learning models for automatic news summarization.</a:t>
                      </a:r>
                    </a:p>
                  </a:txBody>
                  <a:tcPr marL="82101" marR="82101" marT="41050" marB="41050" anchor="ctr"/>
                </a:tc>
                <a:extLst>
                  <a:ext uri="{0D108BD9-81ED-4DB2-BD59-A6C34878D82A}">
                    <a16:rowId xmlns:a16="http://schemas.microsoft.com/office/drawing/2014/main" val="2561623254"/>
                  </a:ext>
                </a:extLst>
              </a:tr>
              <a:tr h="1234356">
                <a:tc>
                  <a:txBody>
                    <a:bodyPr/>
                    <a:lstStyle/>
                    <a:p>
                      <a:pPr algn="ctr">
                        <a:buNone/>
                      </a:pPr>
                      <a:r>
                        <a:rPr lang="en-IN" sz="1600">
                          <a:latin typeface="Times New Roman" panose="02020603050405020304" pitchFamily="18" charset="0"/>
                          <a:cs typeface="Times New Roman" panose="02020603050405020304" pitchFamily="18" charset="0"/>
                        </a:rPr>
                        <a:t>4</a:t>
                      </a:r>
                    </a:p>
                  </a:txBody>
                  <a:tcPr marL="82101" marR="82101" marT="41050" marB="41050" anchor="ctr"/>
                </a:tc>
                <a:tc>
                  <a:txBody>
                    <a:bodyPr/>
                    <a:lstStyle/>
                    <a:p>
                      <a:pPr algn="ctr">
                        <a:buNone/>
                      </a:pPr>
                      <a:r>
                        <a:rPr lang="en-IN" sz="1600">
                          <a:latin typeface="Times New Roman" panose="02020603050405020304" pitchFamily="18" charset="0"/>
                          <a:cs typeface="Times New Roman" panose="02020603050405020304" pitchFamily="18" charset="0"/>
                        </a:rPr>
                        <a:t>Manish Motghare et al.</a:t>
                      </a:r>
                    </a:p>
                  </a:txBody>
                  <a:tcPr marL="82101" marR="82101" marT="41050" marB="41050" anchor="ctr"/>
                </a:tc>
                <a:tc>
                  <a:txBody>
                    <a:bodyPr/>
                    <a:lstStyle/>
                    <a:p>
                      <a:pPr algn="ctr">
                        <a:buNone/>
                      </a:pPr>
                      <a:r>
                        <a:rPr lang="en-IN" sz="1600">
                          <a:latin typeface="Times New Roman" panose="02020603050405020304" pitchFamily="18" charset="0"/>
                          <a:cs typeface="Times New Roman" panose="02020603050405020304" pitchFamily="18" charset="0"/>
                        </a:rPr>
                        <a:t>2025</a:t>
                      </a: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Indian English </a:t>
                      </a:r>
                      <a:r>
                        <a:rPr lang="en-IN" sz="1600" dirty="0" err="1">
                          <a:latin typeface="Times New Roman" panose="02020603050405020304" pitchFamily="18" charset="0"/>
                          <a:cs typeface="Times New Roman" panose="02020603050405020304" pitchFamily="18" charset="0"/>
                        </a:rPr>
                        <a:t>NewsSumm</a:t>
                      </a:r>
                      <a:endParaRPr lang="en-IN" sz="1600" dirty="0">
                        <a:latin typeface="Times New Roman" panose="02020603050405020304" pitchFamily="18" charset="0"/>
                        <a:cs typeface="Times New Roman" panose="02020603050405020304" pitchFamily="18" charset="0"/>
                      </a:endParaRPr>
                    </a:p>
                  </a:txBody>
                  <a:tcPr marL="82101" marR="82101" marT="41050" marB="41050" anchor="ctr"/>
                </a:tc>
                <a:tc>
                  <a:txBody>
                    <a:bodyPr/>
                    <a:lstStyle/>
                    <a:p>
                      <a:pPr algn="ctr">
                        <a:buNone/>
                      </a:pPr>
                      <a:r>
                        <a:rPr lang="en-IN" sz="1600" dirty="0">
                          <a:latin typeface="Times New Roman" panose="02020603050405020304" pitchFamily="18" charset="0"/>
                          <a:cs typeface="Times New Roman" panose="02020603050405020304" pitchFamily="18" charset="0"/>
                        </a:rPr>
                        <a:t>Created a large Indian English news summarization dataset.</a:t>
                      </a:r>
                    </a:p>
                  </a:txBody>
                  <a:tcPr marL="82101" marR="82101" marT="41050" marB="41050" anchor="ctr"/>
                </a:tc>
                <a:extLst>
                  <a:ext uri="{0D108BD9-81ED-4DB2-BD59-A6C34878D82A}">
                    <a16:rowId xmlns:a16="http://schemas.microsoft.com/office/drawing/2014/main" val="2371962022"/>
                  </a:ext>
                </a:extLst>
              </a:tr>
            </a:tbl>
          </a:graphicData>
        </a:graphic>
      </p:graphicFrame>
      <p:pic>
        <p:nvPicPr>
          <p:cNvPr id="23" name="Picture 22" descr="SIMATS Transport - Apps on Google Play">
            <a:extLst>
              <a:ext uri="{FF2B5EF4-FFF2-40B4-BE49-F238E27FC236}">
                <a16:creationId xmlns:a16="http://schemas.microsoft.com/office/drawing/2014/main" id="{B6D0F59B-9959-E685-7EF1-781CB3C03C73}"/>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25" name="Picture 24" descr="SIMATS CGPA Calculator">
            <a:extLst>
              <a:ext uri="{FF2B5EF4-FFF2-40B4-BE49-F238E27FC236}">
                <a16:creationId xmlns:a16="http://schemas.microsoft.com/office/drawing/2014/main" id="{17461954-8002-09D4-5773-251310FC5B96}"/>
              </a:ext>
            </a:extLst>
          </p:cNvPr>
          <p:cNvPicPr>
            <a:picLocks noChangeAspect="1"/>
          </p:cNvPicPr>
          <p:nvPr/>
        </p:nvPicPr>
        <p:blipFill>
          <a:blip r:embed="rId4"/>
          <a:stretch>
            <a:fillRect/>
          </a:stretch>
        </p:blipFill>
        <p:spPr>
          <a:xfrm>
            <a:off x="10486697" y="148194"/>
            <a:ext cx="1217623" cy="10381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2AB34A3B-E921-1B4E-D06C-4B251660EE99}"/>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7FC08ABC-4371-35B4-B8F4-6EF8B19B2B7B}"/>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7" name="Text 0">
            <a:extLst>
              <a:ext uri="{FF2B5EF4-FFF2-40B4-BE49-F238E27FC236}">
                <a16:creationId xmlns:a16="http://schemas.microsoft.com/office/drawing/2014/main" id="{FFEB60E7-0F5C-008D-73E6-583B3DBE0F12}"/>
              </a:ext>
            </a:extLst>
          </p:cNvPr>
          <p:cNvSpPr/>
          <p:nvPr/>
        </p:nvSpPr>
        <p:spPr>
          <a:xfrm>
            <a:off x="3657600" y="347472"/>
            <a:ext cx="5039360" cy="685800"/>
          </a:xfrm>
          <a:prstGeom prst="rect">
            <a:avLst/>
          </a:prstGeom>
          <a:noFill/>
          <a:ln/>
        </p:spPr>
        <p:txBody>
          <a:bodyPr wrap="square" rtlCol="0" anchor="ctr"/>
          <a:lstStyle/>
          <a:p>
            <a:pPr marL="0" indent="0" algn="ctr">
              <a:buNone/>
            </a:pPr>
            <a:r>
              <a:rPr lang="en-US" sz="3200" b="1" kern="0" spc="200" dirty="0">
                <a:latin typeface="Times New Roman" panose="02020603050405020304" pitchFamily="18" charset="0"/>
                <a:ea typeface="Calibri" pitchFamily="34" charset="-122"/>
                <a:cs typeface="Times New Roman" panose="02020603050405020304" pitchFamily="18" charset="0"/>
              </a:rPr>
              <a:t>EXISTING SYSTEM</a:t>
            </a:r>
            <a:endParaRPr lang="en-US"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7B5BB76-34DE-1AA6-4EE4-E4B4D8C29749}"/>
              </a:ext>
            </a:extLst>
          </p:cNvPr>
          <p:cNvSpPr txBox="1"/>
          <p:nvPr/>
        </p:nvSpPr>
        <p:spPr>
          <a:xfrm>
            <a:off x="661481" y="1857983"/>
            <a:ext cx="6605081" cy="3885936"/>
          </a:xfrm>
          <a:prstGeom prst="rect">
            <a:avLst/>
          </a:prstGeom>
          <a:solidFill>
            <a:schemeClr val="bg1">
              <a:lumMod val="95000"/>
            </a:schemeClr>
          </a:solidFill>
        </p:spPr>
        <p:txBody>
          <a:bodyPr wrap="square" rtlCol="0">
            <a:spAutoFit/>
          </a:bodyPr>
          <a:lstStyle/>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news websites mainly provide article browsing.</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have to manually search for topics of interest.</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Full articles need to be read to understand important information.</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News categorization may be limited.</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Summarization and translation may require separate applications</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Recommendations are often generic rather than personalized.</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may receive large amounts of irrelevant information.</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97FE44C-69C6-3D07-A75C-97A03C1242F4}"/>
              </a:ext>
            </a:extLst>
          </p:cNvPr>
          <p:cNvSpPr txBox="1"/>
          <p:nvPr/>
        </p:nvSpPr>
        <p:spPr>
          <a:xfrm>
            <a:off x="7976681" y="2390392"/>
            <a:ext cx="4011038" cy="3035703"/>
          </a:xfrm>
          <a:prstGeom prst="rect">
            <a:avLst/>
          </a:prstGeom>
          <a:solidFill>
            <a:schemeClr val="bg1">
              <a:lumMod val="95000"/>
            </a:schemeClr>
          </a:solidFill>
        </p:spPr>
        <p:txBody>
          <a:bodyPr wrap="square" rtlCol="0">
            <a:spAutoFit/>
          </a:bodyPr>
          <a:lstStyle/>
          <a:p>
            <a:pPr marL="0" marR="0" indent="0" algn="l">
              <a:lnSpc>
                <a:spcPct val="150000"/>
              </a:lnSpc>
              <a:spcBef>
                <a:spcPts val="1200"/>
              </a:spcBef>
              <a:spcAft>
                <a:spcPts val="300"/>
              </a:spcAft>
              <a:buNone/>
            </a:pPr>
            <a:r>
              <a:rPr lang="en-IN" b="1" i="0" dirty="0">
                <a:solidFill>
                  <a:srgbClr val="0D0D0D"/>
                </a:solidFill>
                <a:effectLst/>
                <a:latin typeface="Times New Roman" panose="02020603050405020304" pitchFamily="18" charset="0"/>
                <a:cs typeface="Times New Roman" panose="02020603050405020304" pitchFamily="18" charset="0"/>
              </a:rPr>
              <a:t>Limitations</a:t>
            </a:r>
          </a:p>
          <a:p>
            <a:pPr marL="0" marR="0" lvl="0" indent="-342900" algn="l">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Information overload</a:t>
            </a:r>
          </a:p>
          <a:p>
            <a:pPr marL="0" marR="0" lvl="0" indent="-342900" algn="l">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Time-consuming reading</a:t>
            </a:r>
          </a:p>
          <a:p>
            <a:pPr marL="0" marR="0" lvl="0" indent="-342900" algn="l">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Limited personalization</a:t>
            </a:r>
          </a:p>
          <a:p>
            <a:pPr marL="0" marR="0" lvl="0" indent="-342900" algn="l">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Language barriers</a:t>
            </a:r>
          </a:p>
          <a:p>
            <a:pPr marL="0" marR="0" lvl="0" indent="-342900" algn="l">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Repetitive content</a:t>
            </a:r>
          </a:p>
          <a:p>
            <a:pPr marL="0" marR="0" lvl="0" indent="-342900" algn="l">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Multiple tools required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2802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3484880" y="329692"/>
            <a:ext cx="5547360" cy="786384"/>
          </a:xfrm>
          <a:prstGeom prst="rect">
            <a:avLst/>
          </a:prstGeom>
          <a:noFill/>
          <a:ln/>
        </p:spPr>
        <p:txBody>
          <a:bodyPr wrap="square" rtlCol="0" anchor="ctr"/>
          <a:lstStyle/>
          <a:p>
            <a:pPr marL="0" indent="0">
              <a:buNone/>
            </a:pPr>
            <a:r>
              <a:rPr lang="en-US" sz="3200" b="1" kern="0" spc="200" dirty="0">
                <a:latin typeface="Times New Roman" panose="02020603050405020304" pitchFamily="18" charset="0"/>
                <a:ea typeface="Calibri" pitchFamily="34" charset="-122"/>
                <a:cs typeface="Times New Roman" panose="02020603050405020304" pitchFamily="18" charset="0"/>
              </a:rPr>
              <a:t>PROBLEM STATEMENT</a:t>
            </a:r>
            <a:endParaRPr lang="en-US" sz="3200" dirty="0">
              <a:latin typeface="Times New Roman" panose="02020603050405020304" pitchFamily="18" charset="0"/>
              <a:cs typeface="Times New Roman" panose="02020603050405020304" pitchFamily="18" charset="0"/>
            </a:endParaRPr>
          </a:p>
        </p:txBody>
      </p:sp>
      <p:sp>
        <p:nvSpPr>
          <p:cNvPr id="34" name="Text 32"/>
          <p:cNvSpPr/>
          <p:nvPr/>
        </p:nvSpPr>
        <p:spPr>
          <a:xfrm>
            <a:off x="11365992" y="6355080"/>
            <a:ext cx="548640" cy="320040"/>
          </a:xfrm>
          <a:prstGeom prst="rect">
            <a:avLst/>
          </a:prstGeom>
          <a:noFill/>
          <a:ln/>
        </p:spPr>
        <p:txBody>
          <a:bodyPr wrap="square" rtlCol="0" anchor="ctr"/>
          <a:lstStyle/>
          <a:p>
            <a:pPr marL="0" indent="0" algn="r">
              <a:buNone/>
            </a:pPr>
            <a:r>
              <a:rPr lang="en-US" sz="1600" dirty="0">
                <a:latin typeface="Times New Roman" panose="02020603050405020304" pitchFamily="18" charset="0"/>
                <a:ea typeface="Calibri" pitchFamily="34" charset="-122"/>
                <a:cs typeface="Times New Roman" panose="02020603050405020304" pitchFamily="18" charset="0"/>
              </a:rPr>
              <a:t>03</a:t>
            </a:r>
            <a:endParaRPr lang="en-US" sz="1600" dirty="0">
              <a:latin typeface="Times New Roman" panose="02020603050405020304" pitchFamily="18" charset="0"/>
              <a:cs typeface="Times New Roman" panose="02020603050405020304" pitchFamily="18" charset="0"/>
            </a:endParaRPr>
          </a:p>
        </p:txBody>
      </p:sp>
      <p:pic>
        <p:nvPicPr>
          <p:cNvPr id="37" name="Picture 36" descr="SIMATS Transport - Apps on Google Play">
            <a:extLst>
              <a:ext uri="{FF2B5EF4-FFF2-40B4-BE49-F238E27FC236}">
                <a16:creationId xmlns:a16="http://schemas.microsoft.com/office/drawing/2014/main" id="{3191BDF5-D3EF-5163-25B0-54D380771C64}"/>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39" name="Picture 38" descr="SIMATS CGPA Calculator">
            <a:extLst>
              <a:ext uri="{FF2B5EF4-FFF2-40B4-BE49-F238E27FC236}">
                <a16:creationId xmlns:a16="http://schemas.microsoft.com/office/drawing/2014/main" id="{90A5F9B1-5B77-92AD-4754-D72A994222FE}"/>
              </a:ext>
            </a:extLst>
          </p:cNvPr>
          <p:cNvPicPr>
            <a:picLocks noChangeAspect="1"/>
          </p:cNvPicPr>
          <p:nvPr/>
        </p:nvPicPr>
        <p:blipFill>
          <a:blip r:embed="rId4"/>
          <a:stretch>
            <a:fillRect/>
          </a:stretch>
        </p:blipFill>
        <p:spPr>
          <a:xfrm>
            <a:off x="10486697" y="148194"/>
            <a:ext cx="1217623" cy="1038108"/>
          </a:xfrm>
          <a:prstGeom prst="rect">
            <a:avLst/>
          </a:prstGeom>
        </p:spPr>
      </p:pic>
      <p:sp>
        <p:nvSpPr>
          <p:cNvPr id="35" name="TextBox 34">
            <a:extLst>
              <a:ext uri="{FF2B5EF4-FFF2-40B4-BE49-F238E27FC236}">
                <a16:creationId xmlns:a16="http://schemas.microsoft.com/office/drawing/2014/main" id="{41869A75-CDD7-00BF-F586-4052B0E04135}"/>
              </a:ext>
            </a:extLst>
          </p:cNvPr>
          <p:cNvSpPr txBox="1"/>
          <p:nvPr/>
        </p:nvSpPr>
        <p:spPr>
          <a:xfrm>
            <a:off x="1371600" y="1497499"/>
            <a:ext cx="9994391" cy="4478405"/>
          </a:xfrm>
          <a:prstGeom prst="rect">
            <a:avLst/>
          </a:prstGeom>
          <a:solidFill>
            <a:schemeClr val="bg1">
              <a:lumMod val="95000"/>
            </a:schemeClr>
          </a:solidFill>
        </p:spPr>
        <p:txBody>
          <a:bodyPr wrap="square" rtlCol="0">
            <a:spAutoFit/>
          </a:bodyPr>
          <a:lstStyle/>
          <a:p>
            <a:pPr marL="0" marR="0" indent="0" algn="just">
              <a:lnSpc>
                <a:spcPct val="200000"/>
              </a:lnSpc>
              <a:spcBef>
                <a:spcPts val="1200"/>
              </a:spcBef>
              <a:spcAft>
                <a:spcPts val="300"/>
              </a:spcAft>
              <a:buNone/>
            </a:pPr>
            <a:r>
              <a:rPr lang="en-IN" b="1" i="0" dirty="0">
                <a:solidFill>
                  <a:srgbClr val="0D0D0D"/>
                </a:solidFill>
                <a:effectLst/>
                <a:latin typeface="Times New Roman" panose="02020603050405020304" pitchFamily="18" charset="0"/>
                <a:cs typeface="Times New Roman" panose="02020603050405020304" pitchFamily="18" charset="0"/>
              </a:rPr>
              <a:t>Major Problems</a:t>
            </a:r>
          </a:p>
          <a:p>
            <a:pPr indent="0" algn="just">
              <a:lnSpc>
                <a:spcPct val="200000"/>
              </a:lnSpc>
              <a:buNone/>
            </a:pPr>
            <a:r>
              <a:rPr lang="en-IN" sz="1800" b="1" i="0" dirty="0">
                <a:solidFill>
                  <a:srgbClr val="0D0D0D"/>
                </a:solidFill>
                <a:effectLst/>
                <a:latin typeface="Times New Roman" panose="02020603050405020304" pitchFamily="18" charset="0"/>
                <a:cs typeface="Times New Roman" panose="02020603050405020304" pitchFamily="18" charset="0"/>
              </a:rPr>
              <a:t>1. Information Overload</a:t>
            </a:r>
            <a:r>
              <a:rPr lang="en-IN" b="1" dirty="0">
                <a:solidFill>
                  <a:srgbClr val="0D0D0D"/>
                </a:solidFill>
                <a:latin typeface="Times New Roman" panose="02020603050405020304" pitchFamily="18" charset="0"/>
                <a:cs typeface="Times New Roman" panose="02020603050405020304" pitchFamily="18" charset="0"/>
              </a:rPr>
              <a:t>: </a:t>
            </a:r>
            <a:r>
              <a:rPr lang="en-IN" sz="1800" b="0" i="0" dirty="0">
                <a:solidFill>
                  <a:srgbClr val="0D0D0D"/>
                </a:solidFill>
                <a:effectLst/>
                <a:latin typeface="Times New Roman" panose="02020603050405020304" pitchFamily="18" charset="0"/>
                <a:cs typeface="Times New Roman" panose="02020603050405020304" pitchFamily="18" charset="0"/>
              </a:rPr>
              <a:t>Large numbers of news articles make it difficult to find important information.</a:t>
            </a:r>
          </a:p>
          <a:p>
            <a:pPr indent="0" algn="just">
              <a:lnSpc>
                <a:spcPct val="200000"/>
              </a:lnSpc>
              <a:buNone/>
            </a:pPr>
            <a:r>
              <a:rPr lang="en-IN" sz="1800" b="1" i="0" dirty="0">
                <a:solidFill>
                  <a:srgbClr val="0D0D0D"/>
                </a:solidFill>
                <a:effectLst/>
                <a:latin typeface="Times New Roman" panose="02020603050405020304" pitchFamily="18" charset="0"/>
                <a:cs typeface="Times New Roman" panose="02020603050405020304" pitchFamily="18" charset="0"/>
              </a:rPr>
              <a:t>2. Long Articles</a:t>
            </a:r>
            <a:r>
              <a:rPr lang="en-IN" b="1" dirty="0">
                <a:solidFill>
                  <a:srgbClr val="0D0D0D"/>
                </a:solidFill>
                <a:latin typeface="Times New Roman" panose="02020603050405020304" pitchFamily="18" charset="0"/>
                <a:cs typeface="Times New Roman" panose="02020603050405020304" pitchFamily="18" charset="0"/>
              </a:rPr>
              <a:t>: </a:t>
            </a:r>
            <a:r>
              <a:rPr lang="en-IN" sz="1800" b="0" i="0" dirty="0">
                <a:solidFill>
                  <a:srgbClr val="0D0D0D"/>
                </a:solidFill>
                <a:effectLst/>
                <a:latin typeface="Times New Roman" panose="02020603050405020304" pitchFamily="18" charset="0"/>
                <a:cs typeface="Times New Roman" panose="02020603050405020304" pitchFamily="18" charset="0"/>
              </a:rPr>
              <a:t>Reading complete news articles takes a lot of time.</a:t>
            </a:r>
          </a:p>
          <a:p>
            <a:pPr indent="0" algn="just">
              <a:lnSpc>
                <a:spcPct val="200000"/>
              </a:lnSpc>
              <a:buNone/>
            </a:pPr>
            <a:r>
              <a:rPr lang="en-IN" sz="1800" b="1" i="0" dirty="0">
                <a:solidFill>
                  <a:srgbClr val="0D0D0D"/>
                </a:solidFill>
                <a:effectLst/>
                <a:latin typeface="Times New Roman" panose="02020603050405020304" pitchFamily="18" charset="0"/>
                <a:cs typeface="Times New Roman" panose="02020603050405020304" pitchFamily="18" charset="0"/>
              </a:rPr>
              <a:t>3. Categorization Problem</a:t>
            </a:r>
            <a:r>
              <a:rPr lang="en-IN" b="1" dirty="0">
                <a:solidFill>
                  <a:srgbClr val="0D0D0D"/>
                </a:solidFill>
                <a:latin typeface="Times New Roman" panose="02020603050405020304" pitchFamily="18" charset="0"/>
                <a:cs typeface="Times New Roman" panose="02020603050405020304" pitchFamily="18" charset="0"/>
              </a:rPr>
              <a:t>: </a:t>
            </a:r>
            <a:r>
              <a:rPr lang="en-IN" sz="1800" b="0" i="0" dirty="0">
                <a:solidFill>
                  <a:srgbClr val="0D0D0D"/>
                </a:solidFill>
                <a:effectLst/>
                <a:latin typeface="Times New Roman" panose="02020603050405020304" pitchFamily="18" charset="0"/>
                <a:cs typeface="Times New Roman" panose="02020603050405020304" pitchFamily="18" charset="0"/>
              </a:rPr>
              <a:t>Manually classifying a large number of news articles is difficult and time-consuming.</a:t>
            </a:r>
          </a:p>
          <a:p>
            <a:pPr indent="0" algn="just">
              <a:lnSpc>
                <a:spcPct val="200000"/>
              </a:lnSpc>
              <a:buNone/>
            </a:pPr>
            <a:r>
              <a:rPr lang="en-IN" sz="1800" b="1" i="0" dirty="0">
                <a:solidFill>
                  <a:srgbClr val="0D0D0D"/>
                </a:solidFill>
                <a:effectLst/>
                <a:latin typeface="Times New Roman" panose="02020603050405020304" pitchFamily="18" charset="0"/>
                <a:cs typeface="Times New Roman" panose="02020603050405020304" pitchFamily="18" charset="0"/>
              </a:rPr>
              <a:t>4. Language Barrier</a:t>
            </a:r>
            <a:r>
              <a:rPr lang="en-IN" b="1" dirty="0">
                <a:solidFill>
                  <a:srgbClr val="0D0D0D"/>
                </a:solidFill>
                <a:latin typeface="Times New Roman" panose="02020603050405020304" pitchFamily="18" charset="0"/>
                <a:cs typeface="Times New Roman" panose="02020603050405020304" pitchFamily="18" charset="0"/>
              </a:rPr>
              <a:t>: </a:t>
            </a:r>
            <a:r>
              <a:rPr lang="en-IN" sz="1800" b="0" i="0" dirty="0">
                <a:solidFill>
                  <a:srgbClr val="0D0D0D"/>
                </a:solidFill>
                <a:effectLst/>
                <a:latin typeface="Times New Roman" panose="02020603050405020304" pitchFamily="18" charset="0"/>
                <a:cs typeface="Times New Roman" panose="02020603050405020304" pitchFamily="18" charset="0"/>
              </a:rPr>
              <a:t>Users may not understand news available in different languages.</a:t>
            </a:r>
          </a:p>
          <a:p>
            <a:pPr indent="0" algn="just">
              <a:lnSpc>
                <a:spcPct val="200000"/>
              </a:lnSpc>
              <a:buNone/>
            </a:pPr>
            <a:r>
              <a:rPr lang="en-IN" sz="1800" b="1" i="0" dirty="0">
                <a:solidFill>
                  <a:srgbClr val="0D0D0D"/>
                </a:solidFill>
                <a:effectLst/>
                <a:latin typeface="Times New Roman" panose="02020603050405020304" pitchFamily="18" charset="0"/>
                <a:cs typeface="Times New Roman" panose="02020603050405020304" pitchFamily="18" charset="0"/>
              </a:rPr>
              <a:t>5. Lack of Personalization</a:t>
            </a:r>
            <a:r>
              <a:rPr lang="en-IN" b="1" dirty="0">
                <a:solidFill>
                  <a:srgbClr val="0D0D0D"/>
                </a:solidFill>
                <a:latin typeface="Times New Roman" panose="02020603050405020304" pitchFamily="18" charset="0"/>
                <a:cs typeface="Times New Roman" panose="02020603050405020304" pitchFamily="18" charset="0"/>
              </a:rPr>
              <a:t>: </a:t>
            </a:r>
            <a:r>
              <a:rPr lang="en-IN" sz="1800" b="0" i="0" dirty="0">
                <a:solidFill>
                  <a:srgbClr val="0D0D0D"/>
                </a:solidFill>
                <a:effectLst/>
                <a:latin typeface="Times New Roman" panose="02020603050405020304" pitchFamily="18" charset="0"/>
                <a:cs typeface="Times New Roman" panose="02020603050405020304" pitchFamily="18" charset="0"/>
              </a:rPr>
              <a:t>General news feeds may not match the individual interests of users.</a:t>
            </a:r>
          </a:p>
          <a:p>
            <a:pPr indent="0" algn="just">
              <a:lnSpc>
                <a:spcPct val="200000"/>
              </a:lnSpc>
              <a:buNone/>
            </a:pPr>
            <a:r>
              <a:rPr lang="en-IN" sz="1800" b="1" i="0" dirty="0">
                <a:solidFill>
                  <a:srgbClr val="0D0D0D"/>
                </a:solidFill>
                <a:effectLst/>
                <a:latin typeface="Times New Roman" panose="02020603050405020304" pitchFamily="18" charset="0"/>
                <a:cs typeface="Times New Roman" panose="02020603050405020304" pitchFamily="18" charset="0"/>
              </a:rPr>
              <a:t>6. Repetitive Content</a:t>
            </a:r>
            <a:r>
              <a:rPr lang="en-IN" b="1" dirty="0">
                <a:solidFill>
                  <a:srgbClr val="0D0D0D"/>
                </a:solidFill>
                <a:latin typeface="Times New Roman" panose="02020603050405020304" pitchFamily="18" charset="0"/>
                <a:cs typeface="Times New Roman" panose="02020603050405020304" pitchFamily="18" charset="0"/>
              </a:rPr>
              <a:t>: </a:t>
            </a:r>
            <a:r>
              <a:rPr lang="en-IN" sz="1800" b="0" i="0" dirty="0">
                <a:solidFill>
                  <a:srgbClr val="0D0D0D"/>
                </a:solidFill>
                <a:effectLst/>
                <a:latin typeface="Times New Roman" panose="02020603050405020304" pitchFamily="18" charset="0"/>
                <a:cs typeface="Times New Roman" panose="02020603050405020304" pitchFamily="18" charset="0"/>
              </a:rPr>
              <a:t>Users may receive the same or similar news from different sources.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699000" y="370840"/>
            <a:ext cx="3677920" cy="667512"/>
          </a:xfrm>
          <a:prstGeom prst="rect">
            <a:avLst/>
          </a:prstGeom>
          <a:noFill/>
          <a:ln/>
        </p:spPr>
        <p:txBody>
          <a:bodyPr wrap="square" rtlCol="0" anchor="ctr"/>
          <a:lstStyle/>
          <a:p>
            <a:pPr marL="0" indent="0">
              <a:buNone/>
            </a:pPr>
            <a:r>
              <a:rPr lang="en-US" sz="3200" b="1" kern="0" spc="200" dirty="0">
                <a:latin typeface="Times New Roman" panose="02020603050405020304" pitchFamily="18" charset="0"/>
                <a:ea typeface="Calibri" pitchFamily="34" charset="-122"/>
                <a:cs typeface="Times New Roman" panose="02020603050405020304" pitchFamily="18" charset="0"/>
              </a:rPr>
              <a:t>OBJECTIVES</a:t>
            </a:r>
            <a:endParaRPr lang="en-US" sz="3200" dirty="0">
              <a:latin typeface="Times New Roman" panose="02020603050405020304" pitchFamily="18" charset="0"/>
              <a:cs typeface="Times New Roman" panose="02020603050405020304" pitchFamily="18" charset="0"/>
            </a:endParaRPr>
          </a:p>
        </p:txBody>
      </p:sp>
      <p:sp>
        <p:nvSpPr>
          <p:cNvPr id="4" name="Shape 2"/>
          <p:cNvSpPr/>
          <p:nvPr/>
        </p:nvSpPr>
        <p:spPr>
          <a:xfrm>
            <a:off x="548640" y="1783080"/>
            <a:ext cx="5349240" cy="1188720"/>
          </a:xfrm>
          <a:prstGeom prst="rect">
            <a:avLst/>
          </a:prstGeom>
          <a:solidFill>
            <a:schemeClr val="bg1">
              <a:lumMod val="95000"/>
            </a:schemeClr>
          </a:solidFill>
          <a:ln/>
        </p:spPr>
        <p:txBody>
          <a:bodyPr/>
          <a:lstStyle/>
          <a:p>
            <a:endParaRPr lang="en-IN"/>
          </a:p>
        </p:txBody>
      </p:sp>
      <p:sp>
        <p:nvSpPr>
          <p:cNvPr id="5" name="Shape 3"/>
          <p:cNvSpPr/>
          <p:nvPr/>
        </p:nvSpPr>
        <p:spPr>
          <a:xfrm>
            <a:off x="822960" y="2148840"/>
            <a:ext cx="502920" cy="502920"/>
          </a:xfrm>
          <a:prstGeom prst="ellipse">
            <a:avLst/>
          </a:prstGeom>
          <a:solidFill>
            <a:schemeClr val="bg1"/>
          </a:solidFill>
          <a:ln/>
        </p:spPr>
        <p:txBody>
          <a:bodyPr/>
          <a:lstStyle/>
          <a:p>
            <a:endParaRPr lang="en-IN"/>
          </a:p>
        </p:txBody>
      </p:sp>
      <p:sp>
        <p:nvSpPr>
          <p:cNvPr id="6" name="Text 4"/>
          <p:cNvSpPr/>
          <p:nvPr/>
        </p:nvSpPr>
        <p:spPr>
          <a:xfrm>
            <a:off x="822960" y="2148840"/>
            <a:ext cx="502920" cy="502920"/>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1554480" y="1920240"/>
            <a:ext cx="4069080" cy="91440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Collect and preprocess news articles automatically</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548640" y="3200400"/>
            <a:ext cx="5349240" cy="1188720"/>
          </a:xfrm>
          <a:prstGeom prst="rect">
            <a:avLst/>
          </a:prstGeom>
          <a:solidFill>
            <a:schemeClr val="bg1">
              <a:lumMod val="95000"/>
            </a:schemeClr>
          </a:solidFill>
          <a:ln/>
        </p:spPr>
        <p:txBody>
          <a:bodyPr/>
          <a:lstStyle/>
          <a:p>
            <a:endParaRPr lang="en-IN"/>
          </a:p>
        </p:txBody>
      </p:sp>
      <p:sp>
        <p:nvSpPr>
          <p:cNvPr id="9" name="Shape 7"/>
          <p:cNvSpPr/>
          <p:nvPr/>
        </p:nvSpPr>
        <p:spPr>
          <a:xfrm>
            <a:off x="822960" y="3566160"/>
            <a:ext cx="502920" cy="502920"/>
          </a:xfrm>
          <a:prstGeom prst="ellipse">
            <a:avLst/>
          </a:prstGeom>
          <a:solidFill>
            <a:schemeClr val="bg1"/>
          </a:solidFill>
          <a:ln/>
        </p:spPr>
        <p:txBody>
          <a:bodyPr/>
          <a:lstStyle/>
          <a:p>
            <a:endParaRPr lang="en-IN"/>
          </a:p>
        </p:txBody>
      </p:sp>
      <p:sp>
        <p:nvSpPr>
          <p:cNvPr id="10" name="Text 8"/>
          <p:cNvSpPr/>
          <p:nvPr/>
        </p:nvSpPr>
        <p:spPr>
          <a:xfrm>
            <a:off x="822960" y="3566160"/>
            <a:ext cx="502920" cy="502920"/>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1554480" y="3337560"/>
            <a:ext cx="4069080" cy="91440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Classify news articles into appropriate categories using AI</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548640" y="4617720"/>
            <a:ext cx="5349240" cy="1188720"/>
          </a:xfrm>
          <a:prstGeom prst="rect">
            <a:avLst/>
          </a:prstGeom>
          <a:solidFill>
            <a:schemeClr val="bg1">
              <a:lumMod val="95000"/>
            </a:schemeClr>
          </a:solidFill>
          <a:ln/>
        </p:spPr>
        <p:txBody>
          <a:bodyPr/>
          <a:lstStyle/>
          <a:p>
            <a:endParaRPr lang="en-IN"/>
          </a:p>
        </p:txBody>
      </p:sp>
      <p:sp>
        <p:nvSpPr>
          <p:cNvPr id="13" name="Shape 11"/>
          <p:cNvSpPr/>
          <p:nvPr/>
        </p:nvSpPr>
        <p:spPr>
          <a:xfrm>
            <a:off x="822960" y="4983480"/>
            <a:ext cx="502920" cy="502920"/>
          </a:xfrm>
          <a:prstGeom prst="ellipse">
            <a:avLst/>
          </a:prstGeom>
          <a:noFill/>
          <a:ln/>
        </p:spPr>
        <p:txBody>
          <a:bodyPr/>
          <a:lstStyle/>
          <a:p>
            <a:endParaRPr lang="en-IN"/>
          </a:p>
        </p:txBody>
      </p:sp>
      <p:sp>
        <p:nvSpPr>
          <p:cNvPr id="14" name="Text 12"/>
          <p:cNvSpPr/>
          <p:nvPr/>
        </p:nvSpPr>
        <p:spPr>
          <a:xfrm>
            <a:off x="822960" y="4983480"/>
            <a:ext cx="502920" cy="502920"/>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1554480" y="4754880"/>
            <a:ext cx="4069080" cy="91440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Generate concise summaries from lengthy news articles</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6263640" y="1783080"/>
            <a:ext cx="5349240" cy="1188720"/>
          </a:xfrm>
          <a:prstGeom prst="rect">
            <a:avLst/>
          </a:prstGeom>
          <a:solidFill>
            <a:schemeClr val="bg1">
              <a:lumMod val="95000"/>
            </a:schemeClr>
          </a:solidFill>
          <a:ln/>
        </p:spPr>
        <p:txBody>
          <a:bodyPr/>
          <a:lstStyle/>
          <a:p>
            <a:endParaRPr lang="en-IN"/>
          </a:p>
        </p:txBody>
      </p:sp>
      <p:sp>
        <p:nvSpPr>
          <p:cNvPr id="17" name="Shape 15"/>
          <p:cNvSpPr/>
          <p:nvPr/>
        </p:nvSpPr>
        <p:spPr>
          <a:xfrm>
            <a:off x="6537960" y="2148840"/>
            <a:ext cx="502920" cy="502920"/>
          </a:xfrm>
          <a:prstGeom prst="ellipse">
            <a:avLst/>
          </a:prstGeom>
          <a:solidFill>
            <a:schemeClr val="bg1"/>
          </a:solidFill>
          <a:ln/>
        </p:spPr>
        <p:txBody>
          <a:bodyPr/>
          <a:lstStyle/>
          <a:p>
            <a:endParaRPr lang="en-IN"/>
          </a:p>
        </p:txBody>
      </p:sp>
      <p:sp>
        <p:nvSpPr>
          <p:cNvPr id="18" name="Text 16"/>
          <p:cNvSpPr/>
          <p:nvPr/>
        </p:nvSpPr>
        <p:spPr>
          <a:xfrm>
            <a:off x="6537960" y="2148840"/>
            <a:ext cx="502920" cy="502920"/>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7269480" y="1920240"/>
            <a:ext cx="4069080" cy="91440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Translate news into multiple languages</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6263640" y="3200400"/>
            <a:ext cx="5349240" cy="1188720"/>
          </a:xfrm>
          <a:prstGeom prst="rect">
            <a:avLst/>
          </a:prstGeom>
          <a:solidFill>
            <a:schemeClr val="bg1">
              <a:lumMod val="95000"/>
            </a:schemeClr>
          </a:solidFill>
          <a:ln/>
        </p:spPr>
        <p:txBody>
          <a:bodyPr/>
          <a:lstStyle/>
          <a:p>
            <a:endParaRPr lang="en-IN"/>
          </a:p>
        </p:txBody>
      </p:sp>
      <p:sp>
        <p:nvSpPr>
          <p:cNvPr id="21" name="Shape 19"/>
          <p:cNvSpPr/>
          <p:nvPr/>
        </p:nvSpPr>
        <p:spPr>
          <a:xfrm>
            <a:off x="6537960" y="3566160"/>
            <a:ext cx="502920" cy="502920"/>
          </a:xfrm>
          <a:prstGeom prst="ellipse">
            <a:avLst/>
          </a:prstGeom>
          <a:solidFill>
            <a:srgbClr val="FF7B54"/>
          </a:solidFill>
          <a:ln/>
        </p:spPr>
        <p:txBody>
          <a:bodyPr/>
          <a:lstStyle/>
          <a:p>
            <a:endParaRPr lang="en-IN"/>
          </a:p>
        </p:txBody>
      </p:sp>
      <p:sp>
        <p:nvSpPr>
          <p:cNvPr id="22" name="Text 20"/>
          <p:cNvSpPr/>
          <p:nvPr/>
        </p:nvSpPr>
        <p:spPr>
          <a:xfrm>
            <a:off x="6537960" y="3566160"/>
            <a:ext cx="502920" cy="502920"/>
          </a:xfrm>
          <a:prstGeom prst="rect">
            <a:avLst/>
          </a:prstGeom>
          <a:solidFill>
            <a:schemeClr val="bg1"/>
          </a:solid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p:txBody>
      </p:sp>
      <p:sp>
        <p:nvSpPr>
          <p:cNvPr id="23" name="Text 21"/>
          <p:cNvSpPr/>
          <p:nvPr/>
        </p:nvSpPr>
        <p:spPr>
          <a:xfrm>
            <a:off x="7269480" y="3337560"/>
            <a:ext cx="4069080" cy="91440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Recommend relevant news based on user interests and behavior</a:t>
            </a:r>
            <a:endParaRPr lang="en-US" sz="1600" dirty="0">
              <a:latin typeface="Times New Roman" panose="02020603050405020304" pitchFamily="18" charset="0"/>
              <a:cs typeface="Times New Roman" panose="02020603050405020304" pitchFamily="18" charset="0"/>
            </a:endParaRPr>
          </a:p>
        </p:txBody>
      </p:sp>
      <p:sp>
        <p:nvSpPr>
          <p:cNvPr id="24" name="Shape 22"/>
          <p:cNvSpPr/>
          <p:nvPr/>
        </p:nvSpPr>
        <p:spPr>
          <a:xfrm>
            <a:off x="6263640" y="4617720"/>
            <a:ext cx="5349240" cy="1188720"/>
          </a:xfrm>
          <a:prstGeom prst="rect">
            <a:avLst/>
          </a:prstGeom>
          <a:solidFill>
            <a:schemeClr val="bg1">
              <a:lumMod val="95000"/>
            </a:schemeClr>
          </a:solidFill>
          <a:ln/>
        </p:spPr>
        <p:txBody>
          <a:bodyPr/>
          <a:lstStyle/>
          <a:p>
            <a:endParaRPr lang="en-IN"/>
          </a:p>
        </p:txBody>
      </p:sp>
      <p:sp>
        <p:nvSpPr>
          <p:cNvPr id="25" name="Shape 23"/>
          <p:cNvSpPr/>
          <p:nvPr/>
        </p:nvSpPr>
        <p:spPr>
          <a:xfrm>
            <a:off x="6537960" y="4983480"/>
            <a:ext cx="502920" cy="502920"/>
          </a:xfrm>
          <a:prstGeom prst="ellipse">
            <a:avLst/>
          </a:prstGeom>
          <a:solidFill>
            <a:srgbClr val="FF7B54"/>
          </a:solidFill>
          <a:ln/>
        </p:spPr>
        <p:txBody>
          <a:bodyPr/>
          <a:lstStyle/>
          <a:p>
            <a:endParaRPr lang="en-IN"/>
          </a:p>
        </p:txBody>
      </p:sp>
      <p:sp>
        <p:nvSpPr>
          <p:cNvPr id="26" name="Text 24"/>
          <p:cNvSpPr/>
          <p:nvPr/>
        </p:nvSpPr>
        <p:spPr>
          <a:xfrm>
            <a:off x="6537960" y="4983480"/>
            <a:ext cx="502920" cy="502920"/>
          </a:xfrm>
          <a:prstGeom prst="rect">
            <a:avLst/>
          </a:prstGeom>
          <a:solidFill>
            <a:schemeClr val="bg1"/>
          </a:solid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6</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7269480" y="4754880"/>
            <a:ext cx="4069080" cy="91440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Provide an integrated, user-friendly intelligent news platform</a:t>
            </a:r>
            <a:endParaRPr lang="en-US" sz="1600" dirty="0">
              <a:latin typeface="Times New Roman" panose="02020603050405020304" pitchFamily="18" charset="0"/>
              <a:cs typeface="Times New Roman" panose="02020603050405020304" pitchFamily="18" charset="0"/>
            </a:endParaRPr>
          </a:p>
        </p:txBody>
      </p:sp>
      <p:sp>
        <p:nvSpPr>
          <p:cNvPr id="28" name="Text 26"/>
          <p:cNvSpPr/>
          <p:nvPr/>
        </p:nvSpPr>
        <p:spPr>
          <a:xfrm>
            <a:off x="11365992" y="6355080"/>
            <a:ext cx="548640" cy="320040"/>
          </a:xfrm>
          <a:prstGeom prst="rect">
            <a:avLst/>
          </a:prstGeom>
          <a:noFill/>
          <a:ln/>
        </p:spPr>
        <p:txBody>
          <a:bodyPr wrap="square" rtlCol="0" anchor="ctr"/>
          <a:lstStyle/>
          <a:p>
            <a:pPr marL="0" indent="0" algn="r">
              <a:buNone/>
            </a:pPr>
            <a:r>
              <a:rPr lang="en-US" sz="1600" dirty="0">
                <a:latin typeface="Times New Roman" panose="02020603050405020304" pitchFamily="18" charset="0"/>
                <a:ea typeface="Calibri" pitchFamily="34" charset="-122"/>
                <a:cs typeface="Times New Roman" panose="02020603050405020304" pitchFamily="18" charset="0"/>
              </a:rPr>
              <a:t>04</a:t>
            </a:r>
            <a:endParaRPr lang="en-US" sz="1600" dirty="0">
              <a:latin typeface="Times New Roman" panose="02020603050405020304" pitchFamily="18" charset="0"/>
              <a:cs typeface="Times New Roman" panose="02020603050405020304" pitchFamily="18" charset="0"/>
            </a:endParaRPr>
          </a:p>
        </p:txBody>
      </p:sp>
      <p:pic>
        <p:nvPicPr>
          <p:cNvPr id="30" name="Picture 29" descr="SIMATS Transport - Apps on Google Play">
            <a:extLst>
              <a:ext uri="{FF2B5EF4-FFF2-40B4-BE49-F238E27FC236}">
                <a16:creationId xmlns:a16="http://schemas.microsoft.com/office/drawing/2014/main" id="{64C1117E-3412-1F1E-76A7-BC903FAF7B32}"/>
              </a:ext>
            </a:extLst>
          </p:cNvPr>
          <p:cNvPicPr>
            <a:picLocks noChangeAspect="1"/>
          </p:cNvPicPr>
          <p:nvPr/>
        </p:nvPicPr>
        <p:blipFill>
          <a:blip r:embed="rId3"/>
          <a:stretch>
            <a:fillRect/>
          </a:stretch>
        </p:blipFill>
        <p:spPr>
          <a:xfrm>
            <a:off x="223520" y="139192"/>
            <a:ext cx="2164080" cy="1130808"/>
          </a:xfrm>
          <a:prstGeom prst="rect">
            <a:avLst/>
          </a:prstGeom>
        </p:spPr>
      </p:pic>
      <p:pic>
        <p:nvPicPr>
          <p:cNvPr id="32" name="Picture 31" descr="SIMATS CGPA Calculator">
            <a:extLst>
              <a:ext uri="{FF2B5EF4-FFF2-40B4-BE49-F238E27FC236}">
                <a16:creationId xmlns:a16="http://schemas.microsoft.com/office/drawing/2014/main" id="{66894E6A-A9B6-410E-B2E6-02EE50867F49}"/>
              </a:ext>
            </a:extLst>
          </p:cNvPr>
          <p:cNvPicPr>
            <a:picLocks noChangeAspect="1"/>
          </p:cNvPicPr>
          <p:nvPr/>
        </p:nvPicPr>
        <p:blipFill>
          <a:blip r:embed="rId4"/>
          <a:stretch>
            <a:fillRect/>
          </a:stretch>
        </p:blipFill>
        <p:spPr>
          <a:xfrm>
            <a:off x="10486697" y="148194"/>
            <a:ext cx="1217623" cy="10381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BAF1D197-4145-F01C-EE7B-C819CBB0A366}"/>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95163844-E22E-141F-9539-736EDD701EDD}"/>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7" name="Text 0">
            <a:extLst>
              <a:ext uri="{FF2B5EF4-FFF2-40B4-BE49-F238E27FC236}">
                <a16:creationId xmlns:a16="http://schemas.microsoft.com/office/drawing/2014/main" id="{4766BC4A-108A-93CA-2B54-0DE16138D7A3}"/>
              </a:ext>
            </a:extLst>
          </p:cNvPr>
          <p:cNvSpPr/>
          <p:nvPr/>
        </p:nvSpPr>
        <p:spPr>
          <a:xfrm>
            <a:off x="4105073" y="391484"/>
            <a:ext cx="5068110" cy="667512"/>
          </a:xfrm>
          <a:prstGeom prst="rect">
            <a:avLst/>
          </a:prstGeom>
          <a:noFill/>
          <a:ln/>
        </p:spPr>
        <p:txBody>
          <a:bodyPr wrap="square" rtlCol="0" anchor="ctr"/>
          <a:lstStyle/>
          <a:p>
            <a:pPr marL="0" indent="0">
              <a:buNone/>
            </a:pPr>
            <a:r>
              <a:rPr lang="en-US" sz="3200" b="1" kern="0" spc="200" dirty="0">
                <a:latin typeface="Times New Roman" panose="02020603050405020304" pitchFamily="18" charset="0"/>
                <a:ea typeface="Calibri" pitchFamily="34" charset="-122"/>
                <a:cs typeface="Times New Roman" panose="02020603050405020304" pitchFamily="18" charset="0"/>
              </a:rPr>
              <a:t>PROPOSED SYSTEM</a:t>
            </a:r>
            <a:endParaRPr lang="en-US"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EA9C44B-F5B3-6904-6123-8399AE00F0ED}"/>
              </a:ext>
            </a:extLst>
          </p:cNvPr>
          <p:cNvSpPr txBox="1"/>
          <p:nvPr/>
        </p:nvSpPr>
        <p:spPr>
          <a:xfrm>
            <a:off x="1556426" y="1799617"/>
            <a:ext cx="8667344" cy="4389920"/>
          </a:xfrm>
          <a:prstGeom prst="rect">
            <a:avLst/>
          </a:prstGeom>
          <a:solidFill>
            <a:schemeClr val="bg1">
              <a:lumMod val="95000"/>
            </a:schemeClr>
          </a:solidFill>
        </p:spPr>
        <p:txBody>
          <a:bodyPr wrap="square" rtlCol="0">
            <a:spAutoFit/>
          </a:bodyPr>
          <a:lstStyle/>
          <a:p>
            <a:pPr indent="0" algn="just">
              <a:lnSpc>
                <a:spcPct val="150000"/>
              </a:lnSpc>
              <a:buNone/>
            </a:pPr>
            <a:r>
              <a:rPr lang="en-IN" sz="1800" i="0" dirty="0">
                <a:solidFill>
                  <a:srgbClr val="0D0D0D"/>
                </a:solidFill>
                <a:effectLst/>
                <a:latin typeface="Times New Roman" panose="02020603050405020304" pitchFamily="18" charset="0"/>
                <a:cs typeface="Times New Roman" panose="02020603050405020304" pitchFamily="18" charset="0"/>
              </a:rPr>
              <a:t>The proposed News AI system provides an integrated AI-based news processing pipeline.</a:t>
            </a:r>
          </a:p>
          <a:p>
            <a:pPr marL="0" marR="0" indent="0" algn="just">
              <a:lnSpc>
                <a:spcPct val="150000"/>
              </a:lnSpc>
              <a:spcBef>
                <a:spcPts val="1200"/>
              </a:spcBef>
              <a:spcAft>
                <a:spcPts val="300"/>
              </a:spcAft>
              <a:buNone/>
            </a:pPr>
            <a:r>
              <a:rPr lang="en-IN" b="1" i="0" dirty="0">
                <a:solidFill>
                  <a:srgbClr val="0D0D0D"/>
                </a:solidFill>
                <a:effectLst/>
                <a:latin typeface="Times New Roman" panose="02020603050405020304" pitchFamily="18" charset="0"/>
                <a:cs typeface="Times New Roman" panose="02020603050405020304" pitchFamily="18" charset="0"/>
              </a:rPr>
              <a:t>The system will:</a:t>
            </a:r>
          </a:p>
          <a:p>
            <a:pPr marL="0" marR="0" lvl="0" indent="-342900" algn="just">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Collect news articles from news sources/APIs.</a:t>
            </a:r>
          </a:p>
          <a:p>
            <a:pPr marL="0" marR="0" lvl="0" indent="-342900" algn="just">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Clean and preprocess the collected data.</a:t>
            </a:r>
          </a:p>
          <a:p>
            <a:pPr marL="0" marR="0" lvl="0" indent="-342900" algn="just">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Automatically classify news into categories.</a:t>
            </a:r>
          </a:p>
          <a:p>
            <a:pPr marL="0" marR="0" lvl="0" indent="-342900" algn="just">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Generate short summaries using AI.</a:t>
            </a:r>
          </a:p>
          <a:p>
            <a:pPr marL="0" marR="0" lvl="0" indent="-342900" algn="just">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Translate news into the user's preferred language.</a:t>
            </a:r>
          </a:p>
          <a:p>
            <a:pPr marL="0" marR="0" lvl="0" indent="-342900" algn="just">
              <a:lnSpc>
                <a:spcPct val="150000"/>
              </a:lnSpc>
              <a:buFont typeface="Arial" panose="020B0604020202020204" pitchFamily="34" charset="0"/>
              <a:buChar char="•"/>
            </a:pPr>
            <a:r>
              <a:rPr lang="en-IN" sz="1800" b="0" i="0" dirty="0" err="1">
                <a:solidFill>
                  <a:srgbClr val="0D0D0D"/>
                </a:solidFill>
                <a:effectLst/>
                <a:latin typeface="Times New Roman" panose="02020603050405020304" pitchFamily="18" charset="0"/>
                <a:cs typeface="Times New Roman" panose="02020603050405020304" pitchFamily="18" charset="0"/>
              </a:rPr>
              <a:t>Analyze</a:t>
            </a:r>
            <a:r>
              <a:rPr lang="en-IN" sz="1800" b="0" i="0" dirty="0">
                <a:solidFill>
                  <a:srgbClr val="0D0D0D"/>
                </a:solidFill>
                <a:effectLst/>
                <a:latin typeface="Times New Roman" panose="02020603050405020304" pitchFamily="18" charset="0"/>
                <a:cs typeface="Times New Roman" panose="02020603050405020304" pitchFamily="18" charset="0"/>
              </a:rPr>
              <a:t> user interests and reading </a:t>
            </a:r>
            <a:r>
              <a:rPr lang="en-IN" sz="1800" b="0" i="0" dirty="0" err="1">
                <a:solidFill>
                  <a:srgbClr val="0D0D0D"/>
                </a:solidFill>
                <a:effectLst/>
                <a:latin typeface="Times New Roman" panose="02020603050405020304" pitchFamily="18" charset="0"/>
                <a:cs typeface="Times New Roman" panose="02020603050405020304" pitchFamily="18" charset="0"/>
              </a:rPr>
              <a:t>behavior</a:t>
            </a:r>
            <a:r>
              <a:rPr lang="en-IN" sz="1800" b="0" i="0" dirty="0">
                <a:solidFill>
                  <a:srgbClr val="0D0D0D"/>
                </a:solidFill>
                <a:effectLst/>
                <a:latin typeface="Times New Roman" panose="02020603050405020304" pitchFamily="18" charset="0"/>
                <a:cs typeface="Times New Roman" panose="02020603050405020304" pitchFamily="18" charset="0"/>
              </a:rPr>
              <a:t>.</a:t>
            </a:r>
          </a:p>
          <a:p>
            <a:pPr marL="0" marR="0" lvl="0" indent="-342900" algn="just">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Recommend relevant news articles.</a:t>
            </a:r>
          </a:p>
          <a:p>
            <a:pPr marL="0" marR="0" lvl="0" indent="-342900" algn="just">
              <a:lnSpc>
                <a:spcPct val="150000"/>
              </a:lnSpc>
              <a:buFont typeface="Arial" panose="020B0604020202020204" pitchFamily="34" charset="0"/>
              <a:buChar char="•"/>
            </a:pPr>
            <a:r>
              <a:rPr lang="en-IN" sz="1800" b="0" i="0" dirty="0">
                <a:solidFill>
                  <a:srgbClr val="0D0D0D"/>
                </a:solidFill>
                <a:effectLst/>
                <a:latin typeface="Times New Roman" panose="02020603050405020304" pitchFamily="18" charset="0"/>
                <a:cs typeface="Times New Roman" panose="02020603050405020304" pitchFamily="18" charset="0"/>
              </a:rPr>
              <a:t>Display personalized news through a user-friendly interface.</a:t>
            </a:r>
          </a:p>
        </p:txBody>
      </p:sp>
    </p:spTree>
    <p:extLst>
      <p:ext uri="{BB962C8B-B14F-4D97-AF65-F5344CB8AC3E}">
        <p14:creationId xmlns:p14="http://schemas.microsoft.com/office/powerpoint/2010/main" val="4044987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93440" y="289560"/>
            <a:ext cx="5831840" cy="603504"/>
          </a:xfrm>
          <a:prstGeom prst="rect">
            <a:avLst/>
          </a:prstGeom>
          <a:noFill/>
          <a:ln/>
        </p:spPr>
        <p:txBody>
          <a:bodyPr wrap="square" rtlCol="0" anchor="ctr"/>
          <a:lstStyle/>
          <a:p>
            <a:pPr marL="0" indent="0">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SYSTEM ARCHITECTURE</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4"/>
          <p:cNvSpPr/>
          <p:nvPr/>
        </p:nvSpPr>
        <p:spPr>
          <a:xfrm>
            <a:off x="777240" y="1783080"/>
            <a:ext cx="4206240" cy="60350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NEWS SOURCES</a:t>
            </a:r>
            <a:endParaRPr lang="en-US" sz="1300" dirty="0"/>
          </a:p>
        </p:txBody>
      </p:sp>
      <p:sp>
        <p:nvSpPr>
          <p:cNvPr id="42" name="Text 40"/>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7080"/>
                </a:solidFill>
                <a:latin typeface="Calibri" pitchFamily="34" charset="0"/>
                <a:ea typeface="Calibri" pitchFamily="34" charset="-122"/>
                <a:cs typeface="Calibri" pitchFamily="34" charset="-120"/>
              </a:rPr>
              <a:t>06</a:t>
            </a:r>
            <a:endParaRPr lang="en-US" sz="1000" dirty="0"/>
          </a:p>
        </p:txBody>
      </p:sp>
      <p:pic>
        <p:nvPicPr>
          <p:cNvPr id="48" name="Picture 47">
            <a:extLst>
              <a:ext uri="{FF2B5EF4-FFF2-40B4-BE49-F238E27FC236}">
                <a16:creationId xmlns:a16="http://schemas.microsoft.com/office/drawing/2014/main" id="{72F8E9C2-7049-D842-C5AC-B6CB584BB5E1}"/>
              </a:ext>
            </a:extLst>
          </p:cNvPr>
          <p:cNvPicPr>
            <a:picLocks noChangeAspect="1"/>
          </p:cNvPicPr>
          <p:nvPr/>
        </p:nvPicPr>
        <p:blipFill>
          <a:blip r:embed="rId3"/>
          <a:stretch>
            <a:fillRect/>
          </a:stretch>
        </p:blipFill>
        <p:spPr>
          <a:xfrm>
            <a:off x="3749040" y="1159764"/>
            <a:ext cx="4958080" cy="5596636"/>
          </a:xfrm>
          <a:prstGeom prst="rect">
            <a:avLst/>
          </a:prstGeom>
        </p:spPr>
      </p:pic>
      <p:pic>
        <p:nvPicPr>
          <p:cNvPr id="50" name="Picture 49" descr="SIMATS Transport - Apps on Google Play">
            <a:extLst>
              <a:ext uri="{FF2B5EF4-FFF2-40B4-BE49-F238E27FC236}">
                <a16:creationId xmlns:a16="http://schemas.microsoft.com/office/drawing/2014/main" id="{CAEED0F7-85A3-9ECA-06EB-E56D7D17DBE6}"/>
              </a:ext>
            </a:extLst>
          </p:cNvPr>
          <p:cNvPicPr>
            <a:picLocks noChangeAspect="1"/>
          </p:cNvPicPr>
          <p:nvPr/>
        </p:nvPicPr>
        <p:blipFill>
          <a:blip r:embed="rId4"/>
          <a:stretch>
            <a:fillRect/>
          </a:stretch>
        </p:blipFill>
        <p:spPr>
          <a:xfrm>
            <a:off x="223520" y="118872"/>
            <a:ext cx="2164080" cy="1130808"/>
          </a:xfrm>
          <a:prstGeom prst="rect">
            <a:avLst/>
          </a:prstGeom>
        </p:spPr>
      </p:pic>
      <p:pic>
        <p:nvPicPr>
          <p:cNvPr id="52" name="Picture 51" descr="SIMATS CGPA Calculator">
            <a:extLst>
              <a:ext uri="{FF2B5EF4-FFF2-40B4-BE49-F238E27FC236}">
                <a16:creationId xmlns:a16="http://schemas.microsoft.com/office/drawing/2014/main" id="{97419159-0D83-042E-1B44-24C1E8921BB8}"/>
              </a:ext>
            </a:extLst>
          </p:cNvPr>
          <p:cNvPicPr>
            <a:picLocks noChangeAspect="1"/>
          </p:cNvPicPr>
          <p:nvPr/>
        </p:nvPicPr>
        <p:blipFill>
          <a:blip r:embed="rId5"/>
          <a:stretch>
            <a:fillRect/>
          </a:stretch>
        </p:blipFill>
        <p:spPr>
          <a:xfrm>
            <a:off x="10486697" y="148194"/>
            <a:ext cx="1217623" cy="10381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3E7C393A-F896-96C6-41E6-F2595F05A5D9}"/>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5E28A913-C0BD-67AB-5B5E-6D7DC2BF351F}"/>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7" name="Text 0">
            <a:extLst>
              <a:ext uri="{FF2B5EF4-FFF2-40B4-BE49-F238E27FC236}">
                <a16:creationId xmlns:a16="http://schemas.microsoft.com/office/drawing/2014/main" id="{98588B56-4728-2291-A930-712BCFABAD1C}"/>
              </a:ext>
            </a:extLst>
          </p:cNvPr>
          <p:cNvSpPr/>
          <p:nvPr/>
        </p:nvSpPr>
        <p:spPr>
          <a:xfrm>
            <a:off x="3393440" y="289560"/>
            <a:ext cx="5831840" cy="603504"/>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ALGORITHMS</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04C43A7-78A2-1048-A399-047737A5DE43}"/>
              </a:ext>
            </a:extLst>
          </p:cNvPr>
          <p:cNvSpPr txBox="1"/>
          <p:nvPr/>
        </p:nvSpPr>
        <p:spPr>
          <a:xfrm>
            <a:off x="1466316" y="2252666"/>
            <a:ext cx="9629192" cy="2585323"/>
          </a:xfrm>
          <a:prstGeom prst="rect">
            <a:avLst/>
          </a:prstGeom>
          <a:noFill/>
        </p:spPr>
        <p:txBody>
          <a:bodyPr wrap="square" rtlCol="0">
            <a:spAutoFit/>
          </a:bodyPr>
          <a:lstStyle/>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TF-IDF – Converts news articles into numerical text features.</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Support Vector Machine (SVM) – Categorizes news into different topics.</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err="1">
                <a:latin typeface="Times New Roman" panose="02020603050405020304" pitchFamily="18" charset="0"/>
                <a:cs typeface="Times New Roman" panose="02020603050405020304" pitchFamily="18" charset="0"/>
              </a:rPr>
              <a:t>TextRank</a:t>
            </a:r>
            <a:r>
              <a:rPr lang="en-IN" dirty="0">
                <a:latin typeface="Times New Roman" panose="02020603050405020304" pitchFamily="18" charset="0"/>
                <a:cs typeface="Times New Roman" panose="02020603050405020304" pitchFamily="18" charset="0"/>
              </a:rPr>
              <a:t> – Extracts important sentences for news summarization.</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XLM-R (XLM-</a:t>
            </a:r>
            <a:r>
              <a:rPr lang="en-IN" dirty="0" err="1">
                <a:latin typeface="Times New Roman" panose="02020603050405020304" pitchFamily="18" charset="0"/>
                <a:cs typeface="Times New Roman" panose="02020603050405020304" pitchFamily="18" charset="0"/>
              </a:rPr>
              <a:t>RoBERTa</a:t>
            </a:r>
            <a:r>
              <a:rPr lang="en-IN" dirty="0">
                <a:latin typeface="Times New Roman" panose="02020603050405020304" pitchFamily="18" charset="0"/>
                <a:cs typeface="Times New Roman" panose="02020603050405020304" pitchFamily="18" charset="0"/>
              </a:rPr>
              <a:t>) – Processes and understands multilingual news content.</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Cosine Similarity – Finds similar articles and supports personalized news recommendations.</a:t>
            </a:r>
          </a:p>
        </p:txBody>
      </p:sp>
    </p:spTree>
    <p:extLst>
      <p:ext uri="{BB962C8B-B14F-4D97-AF65-F5344CB8AC3E}">
        <p14:creationId xmlns:p14="http://schemas.microsoft.com/office/powerpoint/2010/main" val="2504638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4678680" y="215392"/>
            <a:ext cx="2834640" cy="612648"/>
          </a:xfrm>
          <a:prstGeom prst="rect">
            <a:avLst/>
          </a:prstGeom>
          <a:noFill/>
          <a:ln/>
        </p:spPr>
        <p:txBody>
          <a:bodyPr wrap="square" rtlCol="0" anchor="ctr"/>
          <a:lstStyle/>
          <a:p>
            <a:pPr marL="0" indent="0" algn="ctr">
              <a:buNone/>
            </a:pPr>
            <a:r>
              <a:rPr lang="en-US" sz="2800" b="1" kern="0" spc="200" dirty="0">
                <a:latin typeface="Times New Roman" panose="02020603050405020304" pitchFamily="18" charset="0"/>
                <a:ea typeface="Calibri" pitchFamily="34" charset="-122"/>
                <a:cs typeface="Times New Roman" panose="02020603050405020304" pitchFamily="18" charset="0"/>
              </a:rPr>
              <a:t>MODULE 1</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2655613" y="505206"/>
            <a:ext cx="7039830" cy="946404"/>
          </a:xfrm>
          <a:prstGeom prst="rect">
            <a:avLst/>
          </a:prstGeom>
          <a:noFill/>
          <a:ln/>
        </p:spPr>
        <p:txBody>
          <a:bodyPr wrap="square" rtlCol="0" anchor="ctr"/>
          <a:lstStyle/>
          <a:p>
            <a:pPr marL="0" indent="0" algn="ctr">
              <a:buNone/>
            </a:pPr>
            <a:r>
              <a:rPr lang="en-US" sz="3200" b="1" dirty="0">
                <a:latin typeface="Times New Roman" panose="02020603050405020304" pitchFamily="18" charset="0"/>
                <a:ea typeface="Cambria" pitchFamily="34" charset="-122"/>
                <a:cs typeface="Times New Roman" panose="02020603050405020304" pitchFamily="18" charset="0"/>
              </a:rPr>
              <a:t>News Data Collection &amp; Preprocessing</a:t>
            </a:r>
            <a:endParaRPr lang="en-US" sz="3200" dirty="0">
              <a:latin typeface="Times New Roman" panose="02020603050405020304" pitchFamily="18" charset="0"/>
              <a:cs typeface="Times New Roman" panose="02020603050405020304" pitchFamily="18" charset="0"/>
            </a:endParaRPr>
          </a:p>
        </p:txBody>
      </p:sp>
      <p:sp>
        <p:nvSpPr>
          <p:cNvPr id="7" name="Shape 5"/>
          <p:cNvSpPr/>
          <p:nvPr/>
        </p:nvSpPr>
        <p:spPr>
          <a:xfrm>
            <a:off x="274320" y="1737360"/>
            <a:ext cx="4023360" cy="4175760"/>
          </a:xfrm>
          <a:prstGeom prst="rect">
            <a:avLst/>
          </a:prstGeom>
          <a:solidFill>
            <a:schemeClr val="bg1">
              <a:lumMod val="95000"/>
            </a:schemeClr>
          </a:solidFill>
          <a:ln/>
        </p:spPr>
        <p:txBody>
          <a:bodyPr/>
          <a:lstStyle/>
          <a:p>
            <a:endParaRPr lang="en-IN"/>
          </a:p>
        </p:txBody>
      </p:sp>
      <p:sp>
        <p:nvSpPr>
          <p:cNvPr id="8" name="Text 6"/>
          <p:cNvSpPr/>
          <p:nvPr/>
        </p:nvSpPr>
        <p:spPr>
          <a:xfrm>
            <a:off x="670560" y="2153412"/>
            <a:ext cx="3017520" cy="320040"/>
          </a:xfrm>
          <a:prstGeom prst="rect">
            <a:avLst/>
          </a:prstGeom>
          <a:noFill/>
          <a:ln/>
        </p:spPr>
        <p:txBody>
          <a:bodyPr wrap="square" rtlCol="0" anchor="ctr"/>
          <a:lstStyle/>
          <a:p>
            <a:pPr marL="0" indent="0">
              <a:buNone/>
            </a:pPr>
            <a:r>
              <a:rPr lang="en-US" sz="1600" b="1" kern="0" spc="150" dirty="0">
                <a:latin typeface="Times New Roman" panose="02020603050405020304" pitchFamily="18" charset="0"/>
                <a:ea typeface="Calibri" pitchFamily="34" charset="-122"/>
                <a:cs typeface="Times New Roman" panose="02020603050405020304" pitchFamily="18" charset="0"/>
              </a:rPr>
              <a:t>PURPOSE</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579120" y="2670048"/>
            <a:ext cx="3108960" cy="2377440"/>
          </a:xfrm>
          <a:prstGeom prst="rect">
            <a:avLst/>
          </a:prstGeom>
          <a:noFill/>
          <a:ln/>
        </p:spPr>
        <p:txBody>
          <a:bodyPr wrap="square" rtlCol="0" anchor="t"/>
          <a:lstStyle/>
          <a:p>
            <a:pPr marL="0" indent="0">
              <a:lnSpc>
                <a:spcPct val="130000"/>
              </a:lnSpc>
              <a:buNone/>
            </a:pPr>
            <a:r>
              <a:rPr lang="en-US" sz="1600" i="1" dirty="0">
                <a:latin typeface="Times New Roman" panose="02020603050405020304" pitchFamily="18" charset="0"/>
                <a:ea typeface="Calibri" pitchFamily="34" charset="-122"/>
                <a:cs typeface="Times New Roman" panose="02020603050405020304" pitchFamily="18" charset="0"/>
              </a:rPr>
              <a:t>To collect news from different sources and prepare clean, structured text for further AI processing.</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572000" y="1783080"/>
            <a:ext cx="3657600" cy="320040"/>
          </a:xfrm>
          <a:prstGeom prst="rect">
            <a:avLst/>
          </a:prstGeom>
          <a:noFill/>
          <a:ln/>
        </p:spPr>
        <p:txBody>
          <a:bodyPr wrap="square" rtlCol="0" anchor="ctr"/>
          <a:lstStyle/>
          <a:p>
            <a:pPr marL="0" indent="0">
              <a:buNone/>
            </a:pPr>
            <a:r>
              <a:rPr lang="en-US" sz="1600" b="1" kern="0" spc="150" dirty="0">
                <a:latin typeface="Times New Roman" panose="02020603050405020304" pitchFamily="18" charset="0"/>
                <a:ea typeface="Calibri" pitchFamily="34" charset="-122"/>
                <a:cs typeface="Times New Roman" panose="02020603050405020304" pitchFamily="18" charset="0"/>
              </a:rPr>
              <a:t>FUNCTIONS</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4572000" y="2194560"/>
            <a:ext cx="384048" cy="384048"/>
          </a:xfrm>
          <a:prstGeom prst="ellipse">
            <a:avLst/>
          </a:prstGeom>
          <a:solidFill>
            <a:srgbClr val="0B3350"/>
          </a:solidFill>
          <a:ln/>
        </p:spPr>
        <p:txBody>
          <a:bodyPr/>
          <a:lstStyle/>
          <a:p>
            <a:endParaRPr lang="en-IN"/>
          </a:p>
        </p:txBody>
      </p:sp>
      <p:sp>
        <p:nvSpPr>
          <p:cNvPr id="12" name="Text 10"/>
          <p:cNvSpPr/>
          <p:nvPr/>
        </p:nvSpPr>
        <p:spPr>
          <a:xfrm>
            <a:off x="4572000" y="2194560"/>
            <a:ext cx="384048" cy="384048"/>
          </a:xfrm>
          <a:prstGeom prst="rect">
            <a:avLst/>
          </a:prstGeom>
          <a:solidFill>
            <a:schemeClr val="bg1"/>
          </a:solid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5120640" y="2103120"/>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Collects news articles from datasets, APIs, RSS feeds, or online sources</a:t>
            </a:r>
            <a:endParaRPr lang="en-US" sz="1600" dirty="0">
              <a:latin typeface="Times New Roman" panose="02020603050405020304" pitchFamily="18" charset="0"/>
              <a:cs typeface="Times New Roman" panose="02020603050405020304" pitchFamily="18" charset="0"/>
            </a:endParaRPr>
          </a:p>
        </p:txBody>
      </p:sp>
      <p:sp>
        <p:nvSpPr>
          <p:cNvPr id="14" name="Shape 12"/>
          <p:cNvSpPr/>
          <p:nvPr/>
        </p:nvSpPr>
        <p:spPr>
          <a:xfrm>
            <a:off x="4572000" y="2907792"/>
            <a:ext cx="384048" cy="384048"/>
          </a:xfrm>
          <a:prstGeom prst="ellipse">
            <a:avLst/>
          </a:prstGeom>
          <a:noFill/>
          <a:ln/>
        </p:spPr>
        <p:txBody>
          <a:bodyPr/>
          <a:lstStyle/>
          <a:p>
            <a:endParaRPr lang="en-IN"/>
          </a:p>
        </p:txBody>
      </p:sp>
      <p:sp>
        <p:nvSpPr>
          <p:cNvPr id="15" name="Text 13"/>
          <p:cNvSpPr/>
          <p:nvPr/>
        </p:nvSpPr>
        <p:spPr>
          <a:xfrm>
            <a:off x="4572000" y="2907792"/>
            <a:ext cx="384048" cy="384048"/>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5120640" y="2816352"/>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Removes duplicate news articles and unnecessary data</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4572000" y="3621024"/>
            <a:ext cx="384048" cy="384048"/>
          </a:xfrm>
          <a:prstGeom prst="ellipse">
            <a:avLst/>
          </a:prstGeom>
          <a:solidFill>
            <a:srgbClr val="0B3350"/>
          </a:solidFill>
          <a:ln/>
        </p:spPr>
        <p:txBody>
          <a:bodyPr/>
          <a:lstStyle/>
          <a:p>
            <a:endParaRPr lang="en-IN"/>
          </a:p>
        </p:txBody>
      </p:sp>
      <p:sp>
        <p:nvSpPr>
          <p:cNvPr id="18" name="Text 16"/>
          <p:cNvSpPr/>
          <p:nvPr/>
        </p:nvSpPr>
        <p:spPr>
          <a:xfrm>
            <a:off x="4572000" y="3621024"/>
            <a:ext cx="384048" cy="384048"/>
          </a:xfrm>
          <a:prstGeom prst="rect">
            <a:avLst/>
          </a:prstGeom>
          <a:solidFill>
            <a:schemeClr val="bg1"/>
          </a:solid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5120640" y="3529584"/>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Cleans HTML tags, special characters, URLs, and unwanted text</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4572000" y="4334256"/>
            <a:ext cx="384048" cy="384048"/>
          </a:xfrm>
          <a:prstGeom prst="ellipse">
            <a:avLst/>
          </a:prstGeom>
          <a:noFill/>
          <a:ln/>
        </p:spPr>
        <p:txBody>
          <a:bodyPr/>
          <a:lstStyle/>
          <a:p>
            <a:endParaRPr lang="en-IN"/>
          </a:p>
        </p:txBody>
      </p:sp>
      <p:sp>
        <p:nvSpPr>
          <p:cNvPr id="21" name="Text 19"/>
          <p:cNvSpPr/>
          <p:nvPr/>
        </p:nvSpPr>
        <p:spPr>
          <a:xfrm>
            <a:off x="4572000" y="4334256"/>
            <a:ext cx="384048" cy="384048"/>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5120640" y="4242816"/>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Performs tokenization and text normalization</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4572000" y="5047488"/>
            <a:ext cx="384048" cy="384048"/>
          </a:xfrm>
          <a:prstGeom prst="ellipse">
            <a:avLst/>
          </a:prstGeom>
          <a:solidFill>
            <a:srgbClr val="0B3350"/>
          </a:solidFill>
          <a:ln/>
        </p:spPr>
        <p:txBody>
          <a:bodyPr/>
          <a:lstStyle/>
          <a:p>
            <a:endParaRPr lang="en-IN"/>
          </a:p>
        </p:txBody>
      </p:sp>
      <p:sp>
        <p:nvSpPr>
          <p:cNvPr id="24" name="Text 22"/>
          <p:cNvSpPr/>
          <p:nvPr/>
        </p:nvSpPr>
        <p:spPr>
          <a:xfrm>
            <a:off x="4572000" y="5047488"/>
            <a:ext cx="384048" cy="384048"/>
          </a:xfrm>
          <a:prstGeom prst="rect">
            <a:avLst/>
          </a:prstGeom>
          <a:solidFill>
            <a:schemeClr val="bg1"/>
          </a:solid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5120640" y="4956048"/>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Removes unnecessary stop words and textual noise</a:t>
            </a:r>
            <a:endParaRPr lang="en-US" sz="1600" dirty="0">
              <a:latin typeface="Times New Roman" panose="02020603050405020304" pitchFamily="18" charset="0"/>
              <a:cs typeface="Times New Roman" panose="02020603050405020304" pitchFamily="18" charset="0"/>
            </a:endParaRPr>
          </a:p>
        </p:txBody>
      </p:sp>
      <p:sp>
        <p:nvSpPr>
          <p:cNvPr id="26" name="Shape 24"/>
          <p:cNvSpPr/>
          <p:nvPr/>
        </p:nvSpPr>
        <p:spPr>
          <a:xfrm>
            <a:off x="4572000" y="5760720"/>
            <a:ext cx="384048" cy="384048"/>
          </a:xfrm>
          <a:prstGeom prst="ellipse">
            <a:avLst/>
          </a:prstGeom>
          <a:noFill/>
          <a:ln/>
        </p:spPr>
        <p:txBody>
          <a:bodyPr/>
          <a:lstStyle/>
          <a:p>
            <a:endParaRPr lang="en-IN"/>
          </a:p>
        </p:txBody>
      </p:sp>
      <p:sp>
        <p:nvSpPr>
          <p:cNvPr id="27" name="Text 25"/>
          <p:cNvSpPr/>
          <p:nvPr/>
        </p:nvSpPr>
        <p:spPr>
          <a:xfrm>
            <a:off x="4572000" y="5760720"/>
            <a:ext cx="384048" cy="384048"/>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6</a:t>
            </a:r>
            <a:endParaRPr lang="en-US" sz="1600" dirty="0">
              <a:latin typeface="Times New Roman" panose="02020603050405020304" pitchFamily="18" charset="0"/>
              <a:cs typeface="Times New Roman" panose="02020603050405020304" pitchFamily="18" charset="0"/>
            </a:endParaRPr>
          </a:p>
        </p:txBody>
      </p:sp>
      <p:sp>
        <p:nvSpPr>
          <p:cNvPr id="28" name="Text 26"/>
          <p:cNvSpPr/>
          <p:nvPr/>
        </p:nvSpPr>
        <p:spPr>
          <a:xfrm>
            <a:off x="5120640" y="5669280"/>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Converts cleaned news into a format suitable for AI models</a:t>
            </a:r>
            <a:endParaRPr lang="en-US" sz="1600" dirty="0">
              <a:latin typeface="Times New Roman" panose="02020603050405020304" pitchFamily="18" charset="0"/>
              <a:cs typeface="Times New Roman" panose="02020603050405020304" pitchFamily="18" charset="0"/>
            </a:endParaRPr>
          </a:p>
        </p:txBody>
      </p:sp>
      <p:sp>
        <p:nvSpPr>
          <p:cNvPr id="29" name="Text 27"/>
          <p:cNvSpPr/>
          <p:nvPr/>
        </p:nvSpPr>
        <p:spPr>
          <a:xfrm>
            <a:off x="11365992" y="6355080"/>
            <a:ext cx="548640" cy="320040"/>
          </a:xfrm>
          <a:prstGeom prst="rect">
            <a:avLst/>
          </a:prstGeom>
          <a:noFill/>
          <a:ln/>
        </p:spPr>
        <p:txBody>
          <a:bodyPr wrap="square" rtlCol="0" anchor="ctr"/>
          <a:lstStyle/>
          <a:p>
            <a:pPr marL="0" indent="0" algn="r">
              <a:buNone/>
            </a:pPr>
            <a:r>
              <a:rPr lang="en-US" sz="1600" dirty="0">
                <a:latin typeface="Times New Roman" panose="02020603050405020304" pitchFamily="18" charset="0"/>
                <a:ea typeface="Calibri" pitchFamily="34" charset="-122"/>
                <a:cs typeface="Times New Roman" panose="02020603050405020304" pitchFamily="18" charset="0"/>
              </a:rPr>
              <a:t>07</a:t>
            </a:r>
            <a:endParaRPr lang="en-US" sz="1600" dirty="0">
              <a:latin typeface="Times New Roman" panose="02020603050405020304" pitchFamily="18" charset="0"/>
              <a:cs typeface="Times New Roman" panose="02020603050405020304" pitchFamily="18" charset="0"/>
            </a:endParaRPr>
          </a:p>
        </p:txBody>
      </p:sp>
      <p:pic>
        <p:nvPicPr>
          <p:cNvPr id="31" name="Picture 30" descr="SIMATS Transport - Apps on Google Play">
            <a:extLst>
              <a:ext uri="{FF2B5EF4-FFF2-40B4-BE49-F238E27FC236}">
                <a16:creationId xmlns:a16="http://schemas.microsoft.com/office/drawing/2014/main" id="{7042A324-30F2-0D98-FE18-641F22AC2EEE}"/>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33" name="Picture 32" descr="SIMATS CGPA Calculator">
            <a:extLst>
              <a:ext uri="{FF2B5EF4-FFF2-40B4-BE49-F238E27FC236}">
                <a16:creationId xmlns:a16="http://schemas.microsoft.com/office/drawing/2014/main" id="{F5D5EB89-2685-90CB-C509-08A69981B0E1}"/>
              </a:ext>
            </a:extLst>
          </p:cNvPr>
          <p:cNvPicPr>
            <a:picLocks noChangeAspect="1"/>
          </p:cNvPicPr>
          <p:nvPr/>
        </p:nvPicPr>
        <p:blipFill>
          <a:blip r:embed="rId4"/>
          <a:stretch>
            <a:fillRect/>
          </a:stretch>
        </p:blipFill>
        <p:spPr>
          <a:xfrm>
            <a:off x="10486697" y="148194"/>
            <a:ext cx="1217623" cy="10381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863A9519-D672-88E0-C7DD-7CABF5FF9D56}"/>
              </a:ext>
            </a:extLst>
          </p:cNvPr>
          <p:cNvSpPr/>
          <p:nvPr/>
        </p:nvSpPr>
        <p:spPr>
          <a:xfrm>
            <a:off x="2387600" y="287772"/>
            <a:ext cx="7669763"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OUTPUT</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BAC1DC1-1732-DA28-ECD9-28B7DA00A5BA}"/>
              </a:ext>
            </a:extLst>
          </p:cNvPr>
          <p:cNvPicPr>
            <a:picLocks noChangeAspect="1"/>
          </p:cNvPicPr>
          <p:nvPr/>
        </p:nvPicPr>
        <p:blipFill>
          <a:blip r:embed="rId2"/>
          <a:stretch>
            <a:fillRect/>
          </a:stretch>
        </p:blipFill>
        <p:spPr>
          <a:xfrm>
            <a:off x="1754154" y="1224006"/>
            <a:ext cx="9311952" cy="5074158"/>
          </a:xfrm>
          <a:prstGeom prst="rect">
            <a:avLst/>
          </a:prstGeom>
          <a:effectLst>
            <a:glow rad="127000">
              <a:schemeClr val="accent1"/>
            </a:glow>
          </a:effectLst>
        </p:spPr>
      </p:pic>
    </p:spTree>
    <p:extLst>
      <p:ext uri="{BB962C8B-B14F-4D97-AF65-F5344CB8AC3E}">
        <p14:creationId xmlns:p14="http://schemas.microsoft.com/office/powerpoint/2010/main" val="3977423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4541520" y="242316"/>
            <a:ext cx="3108960" cy="484632"/>
          </a:xfrm>
          <a:prstGeom prst="rect">
            <a:avLst/>
          </a:prstGeom>
          <a:noFill/>
          <a:ln/>
        </p:spPr>
        <p:txBody>
          <a:bodyPr wrap="square" rtlCol="0" anchor="ctr"/>
          <a:lstStyle/>
          <a:p>
            <a:pPr marL="0" indent="0" algn="ctr">
              <a:buNone/>
            </a:pPr>
            <a:r>
              <a:rPr lang="en-US" sz="2800" b="1" kern="0" spc="200" dirty="0">
                <a:latin typeface="Times New Roman" panose="02020603050405020304" pitchFamily="18" charset="0"/>
                <a:ea typeface="Calibri" pitchFamily="34" charset="-122"/>
                <a:cs typeface="Times New Roman" panose="02020603050405020304" pitchFamily="18" charset="0"/>
              </a:rPr>
              <a:t>MODULE 2</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3145309" y="696468"/>
            <a:ext cx="5923280" cy="640080"/>
          </a:xfrm>
          <a:prstGeom prst="rect">
            <a:avLst/>
          </a:prstGeom>
          <a:noFill/>
          <a:ln/>
        </p:spPr>
        <p:txBody>
          <a:bodyPr wrap="square" rtlCol="0" anchor="ctr"/>
          <a:lstStyle/>
          <a:p>
            <a:pPr marL="0" indent="0" algn="ctr">
              <a:buNone/>
            </a:pPr>
            <a:r>
              <a:rPr lang="en-US" sz="3200" b="1" dirty="0">
                <a:latin typeface="Times New Roman" panose="02020603050405020304" pitchFamily="18" charset="0"/>
                <a:ea typeface="Cambria" pitchFamily="34" charset="-122"/>
                <a:cs typeface="Times New Roman" panose="02020603050405020304" pitchFamily="18" charset="0"/>
              </a:rPr>
              <a:t>AI-Based News Categorization</a:t>
            </a:r>
            <a:endParaRPr lang="en-US" sz="3200" dirty="0">
              <a:latin typeface="Times New Roman" panose="02020603050405020304" pitchFamily="18" charset="0"/>
              <a:cs typeface="Times New Roman" panose="02020603050405020304" pitchFamily="18" charset="0"/>
            </a:endParaRPr>
          </a:p>
        </p:txBody>
      </p:sp>
      <p:sp>
        <p:nvSpPr>
          <p:cNvPr id="7" name="Shape 5"/>
          <p:cNvSpPr/>
          <p:nvPr/>
        </p:nvSpPr>
        <p:spPr>
          <a:xfrm>
            <a:off x="274320" y="1764792"/>
            <a:ext cx="4023360" cy="4495800"/>
          </a:xfrm>
          <a:prstGeom prst="rect">
            <a:avLst/>
          </a:prstGeom>
          <a:solidFill>
            <a:schemeClr val="bg1">
              <a:lumMod val="95000"/>
            </a:schemeClr>
          </a:solidFill>
          <a:ln/>
        </p:spPr>
        <p:txBody>
          <a:bodyPr/>
          <a:lstStyle/>
          <a:p>
            <a:endParaRPr lang="en-IN"/>
          </a:p>
        </p:txBody>
      </p:sp>
      <p:sp>
        <p:nvSpPr>
          <p:cNvPr id="8" name="Text 6"/>
          <p:cNvSpPr/>
          <p:nvPr/>
        </p:nvSpPr>
        <p:spPr>
          <a:xfrm>
            <a:off x="579120" y="2258568"/>
            <a:ext cx="3017520" cy="320040"/>
          </a:xfrm>
          <a:prstGeom prst="rect">
            <a:avLst/>
          </a:prstGeom>
          <a:noFill/>
          <a:ln/>
        </p:spPr>
        <p:txBody>
          <a:bodyPr wrap="square" rtlCol="0" anchor="ctr"/>
          <a:lstStyle/>
          <a:p>
            <a:pPr marL="0" indent="0">
              <a:buNone/>
            </a:pPr>
            <a:r>
              <a:rPr lang="en-US" sz="1600" b="1" kern="0" spc="150" dirty="0">
                <a:latin typeface="Times New Roman" panose="02020603050405020304" pitchFamily="18" charset="0"/>
                <a:ea typeface="Calibri" pitchFamily="34" charset="-122"/>
                <a:cs typeface="Times New Roman" panose="02020603050405020304" pitchFamily="18" charset="0"/>
              </a:rPr>
              <a:t>PURPOSE</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502920" y="2717800"/>
            <a:ext cx="3108960" cy="2377440"/>
          </a:xfrm>
          <a:prstGeom prst="rect">
            <a:avLst/>
          </a:prstGeom>
          <a:noFill/>
          <a:ln/>
        </p:spPr>
        <p:txBody>
          <a:bodyPr wrap="square" rtlCol="0" anchor="t"/>
          <a:lstStyle/>
          <a:p>
            <a:pPr marL="0" indent="0">
              <a:lnSpc>
                <a:spcPct val="130000"/>
              </a:lnSpc>
              <a:buNone/>
            </a:pPr>
            <a:r>
              <a:rPr lang="en-US" sz="1600" i="1" dirty="0">
                <a:latin typeface="Times New Roman" panose="02020603050405020304" pitchFamily="18" charset="0"/>
                <a:ea typeface="Calibri" pitchFamily="34" charset="-122"/>
                <a:cs typeface="Times New Roman" panose="02020603050405020304" pitchFamily="18" charset="0"/>
              </a:rPr>
              <a:t>To automatically classify news articles into appropriate categories using AI and NLP.</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572000" y="1783080"/>
            <a:ext cx="3657600" cy="320040"/>
          </a:xfrm>
          <a:prstGeom prst="rect">
            <a:avLst/>
          </a:prstGeom>
          <a:noFill/>
          <a:ln/>
        </p:spPr>
        <p:txBody>
          <a:bodyPr wrap="square" rtlCol="0" anchor="ctr"/>
          <a:lstStyle/>
          <a:p>
            <a:pPr marL="0" indent="0">
              <a:buNone/>
            </a:pPr>
            <a:r>
              <a:rPr lang="en-US" sz="1600" b="1" kern="0" spc="150" dirty="0">
                <a:latin typeface="Times New Roman" panose="02020603050405020304" pitchFamily="18" charset="0"/>
                <a:ea typeface="Calibri" pitchFamily="34" charset="-122"/>
                <a:cs typeface="Times New Roman" panose="02020603050405020304" pitchFamily="18" charset="0"/>
              </a:rPr>
              <a:t>FUNCTIONS</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4572000" y="2194560"/>
            <a:ext cx="384048" cy="384048"/>
          </a:xfrm>
          <a:prstGeom prst="ellipse">
            <a:avLst/>
          </a:prstGeom>
          <a:noFill/>
          <a:ln/>
        </p:spPr>
        <p:txBody>
          <a:bodyPr/>
          <a:lstStyle/>
          <a:p>
            <a:endParaRPr lang="en-IN"/>
          </a:p>
        </p:txBody>
      </p:sp>
      <p:sp>
        <p:nvSpPr>
          <p:cNvPr id="12" name="Text 10"/>
          <p:cNvSpPr/>
          <p:nvPr/>
        </p:nvSpPr>
        <p:spPr>
          <a:xfrm>
            <a:off x="4572000" y="2194560"/>
            <a:ext cx="384048" cy="384048"/>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5120640" y="2103120"/>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Receives cleaned news articles from the preprocessing module</a:t>
            </a:r>
            <a:endParaRPr lang="en-US" sz="1600" dirty="0">
              <a:latin typeface="Times New Roman" panose="02020603050405020304" pitchFamily="18" charset="0"/>
              <a:cs typeface="Times New Roman" panose="02020603050405020304" pitchFamily="18" charset="0"/>
            </a:endParaRPr>
          </a:p>
        </p:txBody>
      </p:sp>
      <p:sp>
        <p:nvSpPr>
          <p:cNvPr id="14" name="Shape 12"/>
          <p:cNvSpPr/>
          <p:nvPr/>
        </p:nvSpPr>
        <p:spPr>
          <a:xfrm>
            <a:off x="4572000" y="2907792"/>
            <a:ext cx="384048" cy="384048"/>
          </a:xfrm>
          <a:prstGeom prst="ellipse">
            <a:avLst/>
          </a:prstGeom>
          <a:solidFill>
            <a:srgbClr val="1C7293"/>
          </a:solidFill>
          <a:ln/>
        </p:spPr>
        <p:txBody>
          <a:bodyPr/>
          <a:lstStyle/>
          <a:p>
            <a:endParaRPr lang="en-IN"/>
          </a:p>
        </p:txBody>
      </p:sp>
      <p:sp>
        <p:nvSpPr>
          <p:cNvPr id="15" name="Text 13"/>
          <p:cNvSpPr/>
          <p:nvPr/>
        </p:nvSpPr>
        <p:spPr>
          <a:xfrm>
            <a:off x="4572000" y="2907792"/>
            <a:ext cx="384048" cy="384048"/>
          </a:xfrm>
          <a:prstGeom prst="rect">
            <a:avLst/>
          </a:prstGeom>
          <a:solidFill>
            <a:schemeClr val="bg1"/>
          </a:solid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5120640" y="2816352"/>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Extracts important features and information from the news text</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4572000" y="3621024"/>
            <a:ext cx="384048" cy="384048"/>
          </a:xfrm>
          <a:prstGeom prst="ellipse">
            <a:avLst/>
          </a:prstGeom>
          <a:noFill/>
          <a:ln/>
        </p:spPr>
        <p:txBody>
          <a:bodyPr/>
          <a:lstStyle/>
          <a:p>
            <a:endParaRPr lang="en-IN"/>
          </a:p>
        </p:txBody>
      </p:sp>
      <p:sp>
        <p:nvSpPr>
          <p:cNvPr id="18" name="Text 16"/>
          <p:cNvSpPr/>
          <p:nvPr/>
        </p:nvSpPr>
        <p:spPr>
          <a:xfrm>
            <a:off x="4572000" y="3621024"/>
            <a:ext cx="384048" cy="384048"/>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5120640" y="3529584"/>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Converts text into numerical representations for model processing</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4572000" y="4334256"/>
            <a:ext cx="384048" cy="384048"/>
          </a:xfrm>
          <a:prstGeom prst="ellipse">
            <a:avLst/>
          </a:prstGeom>
          <a:noFill/>
          <a:ln/>
        </p:spPr>
        <p:txBody>
          <a:bodyPr/>
          <a:lstStyle/>
          <a:p>
            <a:endParaRPr lang="en-IN"/>
          </a:p>
        </p:txBody>
      </p:sp>
      <p:sp>
        <p:nvSpPr>
          <p:cNvPr id="21" name="Text 19"/>
          <p:cNvSpPr/>
          <p:nvPr/>
        </p:nvSpPr>
        <p:spPr>
          <a:xfrm>
            <a:off x="4572000" y="4334256"/>
            <a:ext cx="384048" cy="384048"/>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4</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5120640" y="4242816"/>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Applies a Machine Learning or Deep Learning classification model</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4572000" y="5047488"/>
            <a:ext cx="384048" cy="384048"/>
          </a:xfrm>
          <a:prstGeom prst="ellipse">
            <a:avLst/>
          </a:prstGeom>
          <a:noFill/>
          <a:ln/>
        </p:spPr>
        <p:txBody>
          <a:bodyPr/>
          <a:lstStyle/>
          <a:p>
            <a:endParaRPr lang="en-IN"/>
          </a:p>
        </p:txBody>
      </p:sp>
      <p:sp>
        <p:nvSpPr>
          <p:cNvPr id="24" name="Text 22"/>
          <p:cNvSpPr/>
          <p:nvPr/>
        </p:nvSpPr>
        <p:spPr>
          <a:xfrm>
            <a:off x="4572000" y="5047488"/>
            <a:ext cx="384048" cy="384048"/>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5</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5120640" y="4956048"/>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Assigns categories such as Sports, Politics, Technology, Business, Entertainment</a:t>
            </a:r>
            <a:endParaRPr lang="en-US" sz="1600" dirty="0">
              <a:latin typeface="Times New Roman" panose="02020603050405020304" pitchFamily="18" charset="0"/>
              <a:cs typeface="Times New Roman" panose="02020603050405020304" pitchFamily="18" charset="0"/>
            </a:endParaRPr>
          </a:p>
        </p:txBody>
      </p:sp>
      <p:sp>
        <p:nvSpPr>
          <p:cNvPr id="26" name="Shape 24"/>
          <p:cNvSpPr/>
          <p:nvPr/>
        </p:nvSpPr>
        <p:spPr>
          <a:xfrm>
            <a:off x="4572000" y="5760720"/>
            <a:ext cx="384048" cy="384048"/>
          </a:xfrm>
          <a:prstGeom prst="ellipse">
            <a:avLst/>
          </a:prstGeom>
          <a:noFill/>
          <a:ln/>
        </p:spPr>
        <p:txBody>
          <a:bodyPr/>
          <a:lstStyle/>
          <a:p>
            <a:endParaRPr lang="en-IN"/>
          </a:p>
        </p:txBody>
      </p:sp>
      <p:sp>
        <p:nvSpPr>
          <p:cNvPr id="27" name="Text 25"/>
          <p:cNvSpPr/>
          <p:nvPr/>
        </p:nvSpPr>
        <p:spPr>
          <a:xfrm>
            <a:off x="4572000" y="5760720"/>
            <a:ext cx="384048" cy="384048"/>
          </a:xfrm>
          <a:prstGeom prst="rect">
            <a:avLst/>
          </a:prstGeom>
          <a:noFill/>
          <a:ln/>
        </p:spPr>
        <p:txBody>
          <a:bodyPr wrap="square" rtlCol="0" anchor="ctr"/>
          <a:lstStyle/>
          <a:p>
            <a:pPr marL="0" indent="0" algn="ctr">
              <a:buNone/>
            </a:pPr>
            <a:r>
              <a:rPr lang="en-US" sz="1600" b="1" dirty="0">
                <a:latin typeface="Times New Roman" panose="02020603050405020304" pitchFamily="18" charset="0"/>
                <a:ea typeface="Calibri" pitchFamily="34" charset="-122"/>
                <a:cs typeface="Times New Roman" panose="02020603050405020304" pitchFamily="18" charset="0"/>
              </a:rPr>
              <a:t>6</a:t>
            </a:r>
            <a:endParaRPr lang="en-US" sz="1600" dirty="0">
              <a:latin typeface="Times New Roman" panose="02020603050405020304" pitchFamily="18" charset="0"/>
              <a:cs typeface="Times New Roman" panose="02020603050405020304" pitchFamily="18" charset="0"/>
            </a:endParaRPr>
          </a:p>
        </p:txBody>
      </p:sp>
      <p:sp>
        <p:nvSpPr>
          <p:cNvPr id="28" name="Text 26"/>
          <p:cNvSpPr/>
          <p:nvPr/>
        </p:nvSpPr>
        <p:spPr>
          <a:xfrm>
            <a:off x="5120640" y="5669280"/>
            <a:ext cx="6492240" cy="594360"/>
          </a:xfrm>
          <a:prstGeom prst="rect">
            <a:avLst/>
          </a:prstGeom>
          <a:noFill/>
          <a:ln/>
        </p:spPr>
        <p:txBody>
          <a:bodyPr wrap="square" rtlCol="0" anchor="ctr"/>
          <a:lstStyle/>
          <a:p>
            <a:pPr marL="0" indent="0">
              <a:buNone/>
            </a:pPr>
            <a:r>
              <a:rPr lang="en-US" sz="1600" dirty="0">
                <a:latin typeface="Times New Roman" panose="02020603050405020304" pitchFamily="18" charset="0"/>
                <a:ea typeface="Calibri" pitchFamily="34" charset="-122"/>
                <a:cs typeface="Times New Roman" panose="02020603050405020304" pitchFamily="18" charset="0"/>
              </a:rPr>
              <a:t>Sends the categorized news to the next processing stage</a:t>
            </a:r>
            <a:endParaRPr lang="en-US" sz="1600" dirty="0">
              <a:latin typeface="Times New Roman" panose="02020603050405020304" pitchFamily="18" charset="0"/>
              <a:cs typeface="Times New Roman" panose="02020603050405020304" pitchFamily="18" charset="0"/>
            </a:endParaRPr>
          </a:p>
        </p:txBody>
      </p:sp>
      <p:sp>
        <p:nvSpPr>
          <p:cNvPr id="29" name="Text 27"/>
          <p:cNvSpPr/>
          <p:nvPr/>
        </p:nvSpPr>
        <p:spPr>
          <a:xfrm>
            <a:off x="11365992" y="6355080"/>
            <a:ext cx="548640" cy="320040"/>
          </a:xfrm>
          <a:prstGeom prst="rect">
            <a:avLst/>
          </a:prstGeom>
          <a:noFill/>
          <a:ln/>
        </p:spPr>
        <p:txBody>
          <a:bodyPr wrap="square" rtlCol="0" anchor="ctr"/>
          <a:lstStyle/>
          <a:p>
            <a:pPr marL="0" indent="0" algn="r">
              <a:buNone/>
            </a:pPr>
            <a:r>
              <a:rPr lang="en-US" sz="1600" dirty="0">
                <a:latin typeface="Times New Roman" panose="02020603050405020304" pitchFamily="18" charset="0"/>
                <a:ea typeface="Calibri" pitchFamily="34" charset="-122"/>
                <a:cs typeface="Times New Roman" panose="02020603050405020304" pitchFamily="18" charset="0"/>
              </a:rPr>
              <a:t>08</a:t>
            </a:r>
            <a:endParaRPr lang="en-US" sz="1600" dirty="0">
              <a:latin typeface="Times New Roman" panose="02020603050405020304" pitchFamily="18" charset="0"/>
              <a:cs typeface="Times New Roman" panose="02020603050405020304" pitchFamily="18" charset="0"/>
            </a:endParaRPr>
          </a:p>
        </p:txBody>
      </p:sp>
      <p:pic>
        <p:nvPicPr>
          <p:cNvPr id="31" name="Picture 30" descr="SIMATS Transport - Apps on Google Play">
            <a:extLst>
              <a:ext uri="{FF2B5EF4-FFF2-40B4-BE49-F238E27FC236}">
                <a16:creationId xmlns:a16="http://schemas.microsoft.com/office/drawing/2014/main" id="{C976E0AE-3BFD-0B30-0F77-6E45D52A2852}"/>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33" name="Picture 32" descr="SIMATS CGPA Calculator">
            <a:extLst>
              <a:ext uri="{FF2B5EF4-FFF2-40B4-BE49-F238E27FC236}">
                <a16:creationId xmlns:a16="http://schemas.microsoft.com/office/drawing/2014/main" id="{54707044-A839-FB94-8B61-4DCED3566EBE}"/>
              </a:ext>
            </a:extLst>
          </p:cNvPr>
          <p:cNvPicPr>
            <a:picLocks noChangeAspect="1"/>
          </p:cNvPicPr>
          <p:nvPr/>
        </p:nvPicPr>
        <p:blipFill>
          <a:blip r:embed="rId4"/>
          <a:stretch>
            <a:fillRect/>
          </a:stretch>
        </p:blipFill>
        <p:spPr>
          <a:xfrm>
            <a:off x="10486697" y="148194"/>
            <a:ext cx="1217623" cy="10381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9349E693-9362-43E4-F5D7-D264A844274C}"/>
              </a:ext>
            </a:extLst>
          </p:cNvPr>
          <p:cNvSpPr/>
          <p:nvPr/>
        </p:nvSpPr>
        <p:spPr>
          <a:xfrm>
            <a:off x="2387600" y="287772"/>
            <a:ext cx="7669763"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OUTPUT</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8845C25-C246-C6F5-878C-A4A193B3C9CA}"/>
              </a:ext>
            </a:extLst>
          </p:cNvPr>
          <p:cNvPicPr>
            <a:picLocks noChangeAspect="1"/>
          </p:cNvPicPr>
          <p:nvPr/>
        </p:nvPicPr>
        <p:blipFill>
          <a:blip r:embed="rId2"/>
          <a:stretch>
            <a:fillRect/>
          </a:stretch>
        </p:blipFill>
        <p:spPr>
          <a:xfrm>
            <a:off x="1486346" y="1321070"/>
            <a:ext cx="9909111" cy="5090160"/>
          </a:xfrm>
          <a:prstGeom prst="rect">
            <a:avLst/>
          </a:prstGeom>
          <a:effectLst>
            <a:glow rad="127000">
              <a:schemeClr val="accent1"/>
            </a:glow>
          </a:effectLst>
        </p:spPr>
      </p:pic>
    </p:spTree>
    <p:extLst>
      <p:ext uri="{BB962C8B-B14F-4D97-AF65-F5344CB8AC3E}">
        <p14:creationId xmlns:p14="http://schemas.microsoft.com/office/powerpoint/2010/main" val="3224946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5" name="Text 3"/>
          <p:cNvSpPr/>
          <p:nvPr/>
        </p:nvSpPr>
        <p:spPr>
          <a:xfrm>
            <a:off x="5120640" y="265176"/>
            <a:ext cx="2438400" cy="482600"/>
          </a:xfrm>
          <a:prstGeom prst="rect">
            <a:avLst/>
          </a:prstGeom>
          <a:noFill/>
          <a:ln/>
        </p:spPr>
        <p:txBody>
          <a:bodyPr wrap="square" rtlCol="0" anchor="ctr"/>
          <a:lstStyle/>
          <a:p>
            <a:pPr marL="0" indent="0" algn="ctr">
              <a:buNone/>
            </a:pPr>
            <a:r>
              <a:rPr lang="en-US" sz="28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MODULE 3</a:t>
            </a: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4"/>
          <p:cNvSpPr/>
          <p:nvPr/>
        </p:nvSpPr>
        <p:spPr>
          <a:xfrm>
            <a:off x="3444240" y="625348"/>
            <a:ext cx="6065520" cy="640080"/>
          </a:xfrm>
          <a:prstGeom prst="rect">
            <a:avLst/>
          </a:prstGeom>
          <a:noFill/>
          <a:ln/>
        </p:spPr>
        <p:txBody>
          <a:bodyPr wrap="square" rtlCol="0" anchor="ctr"/>
          <a:lstStyle/>
          <a:p>
            <a:pPr marL="0" indent="0" algn="ctr">
              <a:buNone/>
            </a:pPr>
            <a:r>
              <a:rPr lang="en-US" sz="3200" b="1" dirty="0">
                <a:solidFill>
                  <a:schemeClr val="tx1">
                    <a:lumMod val="95000"/>
                    <a:lumOff val="5000"/>
                  </a:schemeClr>
                </a:solidFill>
                <a:latin typeface="Times New Roman" panose="02020603050405020304" pitchFamily="18" charset="0"/>
                <a:ea typeface="Cambria" pitchFamily="34" charset="-122"/>
                <a:cs typeface="Times New Roman" panose="02020603050405020304" pitchFamily="18" charset="0"/>
              </a:rPr>
              <a:t>AI News Summarization Engine</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Shape 5"/>
          <p:cNvSpPr/>
          <p:nvPr/>
        </p:nvSpPr>
        <p:spPr>
          <a:xfrm>
            <a:off x="274320" y="1768856"/>
            <a:ext cx="4023360" cy="4375912"/>
          </a:xfrm>
          <a:prstGeom prst="rect">
            <a:avLst/>
          </a:prstGeom>
          <a:solidFill>
            <a:schemeClr val="bg1">
              <a:lumMod val="95000"/>
            </a:schemeClr>
          </a:solidFill>
          <a:ln/>
        </p:spPr>
        <p:txBody>
          <a:bodyPr/>
          <a:lstStyle/>
          <a:p>
            <a:endParaRPr lang="en-IN"/>
          </a:p>
        </p:txBody>
      </p:sp>
      <p:sp>
        <p:nvSpPr>
          <p:cNvPr id="8" name="Text 6"/>
          <p:cNvSpPr/>
          <p:nvPr/>
        </p:nvSpPr>
        <p:spPr>
          <a:xfrm>
            <a:off x="512064" y="2309368"/>
            <a:ext cx="3017520" cy="320040"/>
          </a:xfrm>
          <a:prstGeom prst="rect">
            <a:avLst/>
          </a:prstGeom>
          <a:noFill/>
          <a:ln/>
        </p:spPr>
        <p:txBody>
          <a:bodyPr wrap="square" rtlCol="0" anchor="ctr"/>
          <a:lstStyle/>
          <a:p>
            <a:pPr marL="0" indent="0">
              <a:buNone/>
            </a:pPr>
            <a:r>
              <a:rPr lang="en-US" sz="1600" b="1" kern="0" spc="1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PURPOSE</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Text 7"/>
          <p:cNvSpPr/>
          <p:nvPr/>
        </p:nvSpPr>
        <p:spPr>
          <a:xfrm>
            <a:off x="502920" y="2697480"/>
            <a:ext cx="3108960" cy="2377440"/>
          </a:xfrm>
          <a:prstGeom prst="rect">
            <a:avLst/>
          </a:prstGeom>
          <a:noFill/>
          <a:ln/>
        </p:spPr>
        <p:txBody>
          <a:bodyPr wrap="square" rtlCol="0" anchor="t"/>
          <a:lstStyle/>
          <a:p>
            <a:pPr marL="0" indent="0">
              <a:lnSpc>
                <a:spcPct val="130000"/>
              </a:lnSpc>
              <a:buNone/>
            </a:pPr>
            <a:r>
              <a:rPr lang="en-US" sz="1600" i="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To generate a short and meaningful summary from lengthy news articles while retaining important information.</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Text 8"/>
          <p:cNvSpPr/>
          <p:nvPr/>
        </p:nvSpPr>
        <p:spPr>
          <a:xfrm>
            <a:off x="4572000" y="1783080"/>
            <a:ext cx="3657600" cy="320040"/>
          </a:xfrm>
          <a:prstGeom prst="rect">
            <a:avLst/>
          </a:prstGeom>
          <a:noFill/>
          <a:ln/>
        </p:spPr>
        <p:txBody>
          <a:bodyPr wrap="square" rtlCol="0" anchor="ctr"/>
          <a:lstStyle/>
          <a:p>
            <a:pPr marL="0" indent="0">
              <a:buNone/>
            </a:pPr>
            <a:r>
              <a:rPr lang="en-US" sz="1600" b="1" kern="0" spc="1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FUNCTIONS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Shape 9"/>
          <p:cNvSpPr/>
          <p:nvPr/>
        </p:nvSpPr>
        <p:spPr>
          <a:xfrm>
            <a:off x="4572000" y="2194560"/>
            <a:ext cx="384048" cy="384048"/>
          </a:xfrm>
          <a:prstGeom prst="ellipse">
            <a:avLst/>
          </a:prstGeom>
          <a:noFill/>
          <a:ln/>
        </p:spPr>
        <p:txBody>
          <a:bodyPr/>
          <a:lstStyle/>
          <a:p>
            <a:endParaRPr lang="en-IN"/>
          </a:p>
        </p:txBody>
      </p:sp>
      <p:sp>
        <p:nvSpPr>
          <p:cNvPr id="12" name="Text 10"/>
          <p:cNvSpPr/>
          <p:nvPr/>
        </p:nvSpPr>
        <p:spPr>
          <a:xfrm>
            <a:off x="4572000" y="2194560"/>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1</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3" name="Text 11"/>
          <p:cNvSpPr/>
          <p:nvPr/>
        </p:nvSpPr>
        <p:spPr>
          <a:xfrm>
            <a:off x="5120640" y="2103120"/>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Accepts the complete news article as input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Shape 12"/>
          <p:cNvSpPr/>
          <p:nvPr/>
        </p:nvSpPr>
        <p:spPr>
          <a:xfrm>
            <a:off x="4572000" y="2907792"/>
            <a:ext cx="384048" cy="384048"/>
          </a:xfrm>
          <a:prstGeom prst="ellipse">
            <a:avLst/>
          </a:prstGeom>
          <a:noFill/>
          <a:ln/>
        </p:spPr>
        <p:txBody>
          <a:bodyPr/>
          <a:lstStyle/>
          <a:p>
            <a:endParaRPr lang="en-IN"/>
          </a:p>
        </p:txBody>
      </p:sp>
      <p:sp>
        <p:nvSpPr>
          <p:cNvPr id="15" name="Text 13"/>
          <p:cNvSpPr/>
          <p:nvPr/>
        </p:nvSpPr>
        <p:spPr>
          <a:xfrm>
            <a:off x="4572000" y="2907792"/>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2</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5120640" y="2816352"/>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Analyzes the article using NLP techniques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7" name="Shape 15"/>
          <p:cNvSpPr/>
          <p:nvPr/>
        </p:nvSpPr>
        <p:spPr>
          <a:xfrm>
            <a:off x="4572000" y="3621024"/>
            <a:ext cx="384048" cy="384048"/>
          </a:xfrm>
          <a:prstGeom prst="ellipse">
            <a:avLst/>
          </a:prstGeom>
          <a:noFill/>
          <a:ln/>
        </p:spPr>
        <p:txBody>
          <a:bodyPr/>
          <a:lstStyle/>
          <a:p>
            <a:endParaRPr lang="en-IN"/>
          </a:p>
        </p:txBody>
      </p:sp>
      <p:sp>
        <p:nvSpPr>
          <p:cNvPr id="18" name="Text 16"/>
          <p:cNvSpPr/>
          <p:nvPr/>
        </p:nvSpPr>
        <p:spPr>
          <a:xfrm>
            <a:off x="4572000" y="3621024"/>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3</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9" name="Text 17"/>
          <p:cNvSpPr/>
          <p:nvPr/>
        </p:nvSpPr>
        <p:spPr>
          <a:xfrm>
            <a:off x="5120640" y="3529584"/>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Identifies important facts, events, and key information</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0" name="Shape 18"/>
          <p:cNvSpPr/>
          <p:nvPr/>
        </p:nvSpPr>
        <p:spPr>
          <a:xfrm>
            <a:off x="4572000" y="4334256"/>
            <a:ext cx="384048" cy="384048"/>
          </a:xfrm>
          <a:prstGeom prst="ellipse">
            <a:avLst/>
          </a:prstGeom>
          <a:solidFill>
            <a:srgbClr val="1C7293"/>
          </a:solidFill>
          <a:ln/>
        </p:spPr>
        <p:txBody>
          <a:bodyPr/>
          <a:lstStyle/>
          <a:p>
            <a:endParaRPr lang="en-IN"/>
          </a:p>
        </p:txBody>
      </p:sp>
      <p:sp>
        <p:nvSpPr>
          <p:cNvPr id="21" name="Text 19"/>
          <p:cNvSpPr/>
          <p:nvPr/>
        </p:nvSpPr>
        <p:spPr>
          <a:xfrm>
            <a:off x="4572000" y="4334256"/>
            <a:ext cx="384048" cy="384048"/>
          </a:xfrm>
          <a:prstGeom prst="rect">
            <a:avLst/>
          </a:prstGeom>
          <a:solidFill>
            <a:srgbClr val="FFFFFF"/>
          </a:solid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4</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2" name="Text 20"/>
          <p:cNvSpPr/>
          <p:nvPr/>
        </p:nvSpPr>
        <p:spPr>
          <a:xfrm>
            <a:off x="5120640" y="4242816"/>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Selects or generates the most relevant content for the summary</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3" name="Shape 21"/>
          <p:cNvSpPr/>
          <p:nvPr/>
        </p:nvSpPr>
        <p:spPr>
          <a:xfrm>
            <a:off x="4572000" y="5047488"/>
            <a:ext cx="384048" cy="384048"/>
          </a:xfrm>
          <a:prstGeom prst="ellipse">
            <a:avLst/>
          </a:prstGeom>
          <a:noFill/>
          <a:ln/>
        </p:spPr>
        <p:txBody>
          <a:bodyPr/>
          <a:lstStyle/>
          <a:p>
            <a:endParaRPr lang="en-IN"/>
          </a:p>
        </p:txBody>
      </p:sp>
      <p:sp>
        <p:nvSpPr>
          <p:cNvPr id="24" name="Text 22"/>
          <p:cNvSpPr/>
          <p:nvPr/>
        </p:nvSpPr>
        <p:spPr>
          <a:xfrm>
            <a:off x="4572000" y="5047488"/>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5</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5" name="Text 23"/>
          <p:cNvSpPr/>
          <p:nvPr/>
        </p:nvSpPr>
        <p:spPr>
          <a:xfrm>
            <a:off x="5120640" y="4956048"/>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Produces a concise summary using extractive or abstractive methods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6" name="Shape 24"/>
          <p:cNvSpPr/>
          <p:nvPr/>
        </p:nvSpPr>
        <p:spPr>
          <a:xfrm>
            <a:off x="4572000" y="5760720"/>
            <a:ext cx="384048" cy="384048"/>
          </a:xfrm>
          <a:prstGeom prst="ellipse">
            <a:avLst/>
          </a:prstGeom>
          <a:solidFill>
            <a:srgbClr val="1C7293"/>
          </a:solidFill>
          <a:ln/>
        </p:spPr>
        <p:txBody>
          <a:bodyPr/>
          <a:lstStyle/>
          <a:p>
            <a:endParaRPr lang="en-IN"/>
          </a:p>
        </p:txBody>
      </p:sp>
      <p:sp>
        <p:nvSpPr>
          <p:cNvPr id="27" name="Text 25"/>
          <p:cNvSpPr/>
          <p:nvPr/>
        </p:nvSpPr>
        <p:spPr>
          <a:xfrm>
            <a:off x="4572000" y="5760720"/>
            <a:ext cx="384048" cy="384048"/>
          </a:xfrm>
          <a:prstGeom prst="rect">
            <a:avLst/>
          </a:prstGeom>
          <a:solidFill>
            <a:schemeClr val="bg1"/>
          </a:solid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6</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8" name="Text 26"/>
          <p:cNvSpPr/>
          <p:nvPr/>
        </p:nvSpPr>
        <p:spPr>
          <a:xfrm>
            <a:off x="5120640" y="5669280"/>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Displays the generated summary to help users understand news quickly</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9" name="Text 27"/>
          <p:cNvSpPr/>
          <p:nvPr/>
        </p:nvSpPr>
        <p:spPr>
          <a:xfrm>
            <a:off x="11365992" y="6355080"/>
            <a:ext cx="548640" cy="320040"/>
          </a:xfrm>
          <a:prstGeom prst="rect">
            <a:avLst/>
          </a:prstGeom>
          <a:noFill/>
          <a:ln/>
        </p:spPr>
        <p:txBody>
          <a:bodyPr wrap="square" rtlCol="0" anchor="ctr"/>
          <a:lstStyle/>
          <a:p>
            <a:pPr marL="0" indent="0" algn="r">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09</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31" name="Picture 30" descr="SIMATS Transport - Apps on Google Play">
            <a:extLst>
              <a:ext uri="{FF2B5EF4-FFF2-40B4-BE49-F238E27FC236}">
                <a16:creationId xmlns:a16="http://schemas.microsoft.com/office/drawing/2014/main" id="{5C62A240-56E3-8B5D-FAFA-1FC8903692A5}"/>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33" name="Picture 32" descr="SIMATS CGPA Calculator">
            <a:extLst>
              <a:ext uri="{FF2B5EF4-FFF2-40B4-BE49-F238E27FC236}">
                <a16:creationId xmlns:a16="http://schemas.microsoft.com/office/drawing/2014/main" id="{06085210-5B1C-BF03-B350-7B5FCC1CFA4F}"/>
              </a:ext>
            </a:extLst>
          </p:cNvPr>
          <p:cNvPicPr>
            <a:picLocks noChangeAspect="1"/>
          </p:cNvPicPr>
          <p:nvPr/>
        </p:nvPicPr>
        <p:blipFill>
          <a:blip r:embed="rId4"/>
          <a:stretch>
            <a:fillRect/>
          </a:stretch>
        </p:blipFill>
        <p:spPr>
          <a:xfrm>
            <a:off x="10486697" y="148194"/>
            <a:ext cx="1217623" cy="103810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237FCFE7-60F9-3465-6BC5-F1D1452AA63D}"/>
              </a:ext>
            </a:extLst>
          </p:cNvPr>
          <p:cNvSpPr/>
          <p:nvPr/>
        </p:nvSpPr>
        <p:spPr>
          <a:xfrm>
            <a:off x="2387600" y="287772"/>
            <a:ext cx="7669763"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OUTPUT</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C0CE9B1-4B80-2C18-6765-8B8C23963595}"/>
              </a:ext>
            </a:extLst>
          </p:cNvPr>
          <p:cNvPicPr>
            <a:picLocks noChangeAspect="1"/>
          </p:cNvPicPr>
          <p:nvPr/>
        </p:nvPicPr>
        <p:blipFill>
          <a:blip r:embed="rId2"/>
          <a:stretch>
            <a:fillRect/>
          </a:stretch>
        </p:blipFill>
        <p:spPr>
          <a:xfrm>
            <a:off x="2500007" y="1342417"/>
            <a:ext cx="8225141" cy="5009746"/>
          </a:xfrm>
          <a:prstGeom prst="rect">
            <a:avLst/>
          </a:prstGeom>
          <a:effectLst>
            <a:glow rad="127000">
              <a:schemeClr val="accent1"/>
            </a:glow>
          </a:effectLst>
        </p:spPr>
      </p:pic>
    </p:spTree>
    <p:extLst>
      <p:ext uri="{BB962C8B-B14F-4D97-AF65-F5344CB8AC3E}">
        <p14:creationId xmlns:p14="http://schemas.microsoft.com/office/powerpoint/2010/main" val="3535233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212080" y="185166"/>
            <a:ext cx="2377440" cy="529844"/>
          </a:xfrm>
          <a:prstGeom prst="rect">
            <a:avLst/>
          </a:prstGeom>
          <a:noFill/>
          <a:ln/>
        </p:spPr>
        <p:txBody>
          <a:bodyPr wrap="square" rtlCol="0" anchor="ctr"/>
          <a:lstStyle/>
          <a:p>
            <a:pPr marL="0" indent="0" algn="ctr">
              <a:buNone/>
            </a:pPr>
            <a:r>
              <a:rPr lang="en-US" sz="28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MODULE 4</a:t>
            </a: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4"/>
          <p:cNvSpPr/>
          <p:nvPr/>
        </p:nvSpPr>
        <p:spPr>
          <a:xfrm>
            <a:off x="3520440" y="675132"/>
            <a:ext cx="6146800" cy="640080"/>
          </a:xfrm>
          <a:prstGeom prst="rect">
            <a:avLst/>
          </a:prstGeom>
          <a:noFill/>
          <a:ln/>
        </p:spPr>
        <p:txBody>
          <a:bodyPr wrap="square" rtlCol="0" anchor="ctr"/>
          <a:lstStyle/>
          <a:p>
            <a:pPr marL="0" indent="0" algn="ctr">
              <a:buNone/>
            </a:pPr>
            <a:r>
              <a:rPr lang="en-US" sz="3200" b="1" dirty="0">
                <a:solidFill>
                  <a:schemeClr val="tx1">
                    <a:lumMod val="95000"/>
                    <a:lumOff val="5000"/>
                  </a:schemeClr>
                </a:solidFill>
                <a:latin typeface="Times New Roman" panose="02020603050405020304" pitchFamily="18" charset="0"/>
                <a:ea typeface="Cambria" pitchFamily="34" charset="-122"/>
                <a:cs typeface="Times New Roman" panose="02020603050405020304" pitchFamily="18" charset="0"/>
              </a:rPr>
              <a:t>Multilingual Translation System</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Shape 5"/>
          <p:cNvSpPr/>
          <p:nvPr/>
        </p:nvSpPr>
        <p:spPr>
          <a:xfrm>
            <a:off x="274320" y="1889760"/>
            <a:ext cx="4023360" cy="4255008"/>
          </a:xfrm>
          <a:prstGeom prst="rect">
            <a:avLst/>
          </a:prstGeom>
          <a:solidFill>
            <a:schemeClr val="bg1">
              <a:lumMod val="95000"/>
            </a:schemeClr>
          </a:solidFill>
          <a:ln/>
        </p:spPr>
        <p:txBody>
          <a:bodyPr/>
          <a:lstStyle/>
          <a:p>
            <a:endParaRPr lang="en-IN" dirty="0"/>
          </a:p>
        </p:txBody>
      </p:sp>
      <p:sp>
        <p:nvSpPr>
          <p:cNvPr id="8" name="Text 6"/>
          <p:cNvSpPr/>
          <p:nvPr/>
        </p:nvSpPr>
        <p:spPr>
          <a:xfrm>
            <a:off x="502920" y="2464308"/>
            <a:ext cx="3017520" cy="320040"/>
          </a:xfrm>
          <a:prstGeom prst="rect">
            <a:avLst/>
          </a:prstGeom>
          <a:noFill/>
          <a:ln/>
        </p:spPr>
        <p:txBody>
          <a:bodyPr wrap="square" rtlCol="0" anchor="ctr"/>
          <a:lstStyle/>
          <a:p>
            <a:pPr marL="0" indent="0">
              <a:buNone/>
            </a:pPr>
            <a:r>
              <a:rPr lang="en-US" sz="1600" b="1" kern="0" spc="1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PURPOSE</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Text 7"/>
          <p:cNvSpPr/>
          <p:nvPr/>
        </p:nvSpPr>
        <p:spPr>
          <a:xfrm>
            <a:off x="457200" y="2994152"/>
            <a:ext cx="3108960" cy="2377440"/>
          </a:xfrm>
          <a:prstGeom prst="rect">
            <a:avLst/>
          </a:prstGeom>
          <a:noFill/>
          <a:ln/>
        </p:spPr>
        <p:txBody>
          <a:bodyPr wrap="square" rtlCol="0" anchor="t"/>
          <a:lstStyle/>
          <a:p>
            <a:pPr marL="0" indent="0">
              <a:lnSpc>
                <a:spcPct val="130000"/>
              </a:lnSpc>
              <a:buNone/>
            </a:pPr>
            <a:r>
              <a:rPr lang="en-US" sz="1600" i="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To translate news articles and summaries into different languages according to the user's preference.</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Text 8"/>
          <p:cNvSpPr/>
          <p:nvPr/>
        </p:nvSpPr>
        <p:spPr>
          <a:xfrm>
            <a:off x="4572000" y="1783080"/>
            <a:ext cx="3657600" cy="320040"/>
          </a:xfrm>
          <a:prstGeom prst="rect">
            <a:avLst/>
          </a:prstGeom>
          <a:noFill/>
          <a:ln/>
        </p:spPr>
        <p:txBody>
          <a:bodyPr wrap="square" rtlCol="0" anchor="ctr"/>
          <a:lstStyle/>
          <a:p>
            <a:pPr marL="0" indent="0">
              <a:buNone/>
            </a:pPr>
            <a:r>
              <a:rPr lang="en-US" sz="1600" b="1" kern="0" spc="1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FUNCTIONS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Shape 9"/>
          <p:cNvSpPr/>
          <p:nvPr/>
        </p:nvSpPr>
        <p:spPr>
          <a:xfrm>
            <a:off x="4572000" y="2194560"/>
            <a:ext cx="384048" cy="384048"/>
          </a:xfrm>
          <a:prstGeom prst="ellipse">
            <a:avLst/>
          </a:prstGeom>
          <a:noFill/>
          <a:ln/>
        </p:spPr>
        <p:txBody>
          <a:bodyPr/>
          <a:lstStyle/>
          <a:p>
            <a:endParaRPr lang="en-IN"/>
          </a:p>
        </p:txBody>
      </p:sp>
      <p:sp>
        <p:nvSpPr>
          <p:cNvPr id="12" name="Text 10"/>
          <p:cNvSpPr/>
          <p:nvPr/>
        </p:nvSpPr>
        <p:spPr>
          <a:xfrm>
            <a:off x="4572000" y="2194560"/>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1</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3" name="Text 11"/>
          <p:cNvSpPr/>
          <p:nvPr/>
        </p:nvSpPr>
        <p:spPr>
          <a:xfrm>
            <a:off x="5120640" y="2103120"/>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Accepts the categorized article or generated summary as input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Shape 12"/>
          <p:cNvSpPr/>
          <p:nvPr/>
        </p:nvSpPr>
        <p:spPr>
          <a:xfrm>
            <a:off x="4572000" y="2907792"/>
            <a:ext cx="384048" cy="384048"/>
          </a:xfrm>
          <a:prstGeom prst="ellipse">
            <a:avLst/>
          </a:prstGeom>
          <a:solidFill>
            <a:srgbClr val="1C7293"/>
          </a:solidFill>
          <a:ln/>
        </p:spPr>
        <p:txBody>
          <a:bodyPr/>
          <a:lstStyle/>
          <a:p>
            <a:endParaRPr lang="en-IN"/>
          </a:p>
        </p:txBody>
      </p:sp>
      <p:sp>
        <p:nvSpPr>
          <p:cNvPr id="15" name="Text 13"/>
          <p:cNvSpPr/>
          <p:nvPr/>
        </p:nvSpPr>
        <p:spPr>
          <a:xfrm>
            <a:off x="4572000" y="2907792"/>
            <a:ext cx="384048" cy="384048"/>
          </a:xfrm>
          <a:prstGeom prst="rect">
            <a:avLst/>
          </a:prstGeom>
          <a:solidFill>
            <a:schemeClr val="bg1"/>
          </a:solid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2</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5120640" y="2816352"/>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Allows the user to select a preferred language</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7" name="Shape 15"/>
          <p:cNvSpPr/>
          <p:nvPr/>
        </p:nvSpPr>
        <p:spPr>
          <a:xfrm>
            <a:off x="4572000" y="3621024"/>
            <a:ext cx="384048" cy="384048"/>
          </a:xfrm>
          <a:prstGeom prst="ellipse">
            <a:avLst/>
          </a:prstGeom>
          <a:noFill/>
          <a:ln/>
        </p:spPr>
        <p:txBody>
          <a:bodyPr/>
          <a:lstStyle/>
          <a:p>
            <a:endParaRPr lang="en-IN"/>
          </a:p>
        </p:txBody>
      </p:sp>
      <p:sp>
        <p:nvSpPr>
          <p:cNvPr id="18" name="Text 16"/>
          <p:cNvSpPr/>
          <p:nvPr/>
        </p:nvSpPr>
        <p:spPr>
          <a:xfrm>
            <a:off x="4572000" y="3621024"/>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3</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9" name="Text 17"/>
          <p:cNvSpPr/>
          <p:nvPr/>
        </p:nvSpPr>
        <p:spPr>
          <a:xfrm>
            <a:off x="5120640" y="3529584"/>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Processes the text using an AI-based translation model or service</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0" name="Shape 18"/>
          <p:cNvSpPr/>
          <p:nvPr/>
        </p:nvSpPr>
        <p:spPr>
          <a:xfrm>
            <a:off x="4572000" y="4334256"/>
            <a:ext cx="384048" cy="384048"/>
          </a:xfrm>
          <a:prstGeom prst="ellipse">
            <a:avLst/>
          </a:prstGeom>
          <a:noFill/>
          <a:ln/>
        </p:spPr>
        <p:txBody>
          <a:bodyPr/>
          <a:lstStyle/>
          <a:p>
            <a:endParaRPr lang="en-IN"/>
          </a:p>
        </p:txBody>
      </p:sp>
      <p:sp>
        <p:nvSpPr>
          <p:cNvPr id="21" name="Text 19"/>
          <p:cNvSpPr/>
          <p:nvPr/>
        </p:nvSpPr>
        <p:spPr>
          <a:xfrm>
            <a:off x="4572000" y="4334256"/>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4</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2" name="Text 20"/>
          <p:cNvSpPr/>
          <p:nvPr/>
        </p:nvSpPr>
        <p:spPr>
          <a:xfrm>
            <a:off x="5120640" y="4242816"/>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Translates news into languages such as English, Tamil, Telugu, and Hindi</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3" name="Shape 21"/>
          <p:cNvSpPr/>
          <p:nvPr/>
        </p:nvSpPr>
        <p:spPr>
          <a:xfrm>
            <a:off x="4572000" y="5047488"/>
            <a:ext cx="384048" cy="384048"/>
          </a:xfrm>
          <a:prstGeom prst="ellipse">
            <a:avLst/>
          </a:prstGeom>
          <a:noFill/>
          <a:ln/>
        </p:spPr>
        <p:txBody>
          <a:bodyPr/>
          <a:lstStyle/>
          <a:p>
            <a:endParaRPr lang="en-IN"/>
          </a:p>
        </p:txBody>
      </p:sp>
      <p:sp>
        <p:nvSpPr>
          <p:cNvPr id="24" name="Text 22"/>
          <p:cNvSpPr/>
          <p:nvPr/>
        </p:nvSpPr>
        <p:spPr>
          <a:xfrm>
            <a:off x="4572000" y="5047488"/>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5</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5" name="Text 23"/>
          <p:cNvSpPr/>
          <p:nvPr/>
        </p:nvSpPr>
        <p:spPr>
          <a:xfrm>
            <a:off x="5120640" y="4956048"/>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Preserves the important meaning and context of the original content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6" name="Shape 24"/>
          <p:cNvSpPr/>
          <p:nvPr/>
        </p:nvSpPr>
        <p:spPr>
          <a:xfrm>
            <a:off x="4572000" y="5760720"/>
            <a:ext cx="384048" cy="384048"/>
          </a:xfrm>
          <a:prstGeom prst="ellipse">
            <a:avLst/>
          </a:prstGeom>
          <a:noFill/>
          <a:ln/>
        </p:spPr>
        <p:txBody>
          <a:bodyPr/>
          <a:lstStyle/>
          <a:p>
            <a:endParaRPr lang="en-IN"/>
          </a:p>
        </p:txBody>
      </p:sp>
      <p:sp>
        <p:nvSpPr>
          <p:cNvPr id="27" name="Text 25"/>
          <p:cNvSpPr/>
          <p:nvPr/>
        </p:nvSpPr>
        <p:spPr>
          <a:xfrm>
            <a:off x="4572000" y="5760720"/>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6</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8" name="Text 26"/>
          <p:cNvSpPr/>
          <p:nvPr/>
        </p:nvSpPr>
        <p:spPr>
          <a:xfrm>
            <a:off x="5120640" y="5669280"/>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Displays the translated article or summary to the user</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9" name="Text 27"/>
          <p:cNvSpPr/>
          <p:nvPr/>
        </p:nvSpPr>
        <p:spPr>
          <a:xfrm>
            <a:off x="11365992" y="6355080"/>
            <a:ext cx="548640" cy="320040"/>
          </a:xfrm>
          <a:prstGeom prst="rect">
            <a:avLst/>
          </a:prstGeom>
          <a:noFill/>
          <a:ln/>
        </p:spPr>
        <p:txBody>
          <a:bodyPr wrap="square" rtlCol="0" anchor="ctr"/>
          <a:lstStyle/>
          <a:p>
            <a:pPr marL="0" indent="0" algn="r">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10</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31" name="Picture 30" descr="SIMATS Transport - Apps on Google Play">
            <a:extLst>
              <a:ext uri="{FF2B5EF4-FFF2-40B4-BE49-F238E27FC236}">
                <a16:creationId xmlns:a16="http://schemas.microsoft.com/office/drawing/2014/main" id="{D7622E3D-25C4-631D-C91C-3CB45FF0FEAB}"/>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33" name="Picture 32" descr="SIMATS CGPA Calculator">
            <a:extLst>
              <a:ext uri="{FF2B5EF4-FFF2-40B4-BE49-F238E27FC236}">
                <a16:creationId xmlns:a16="http://schemas.microsoft.com/office/drawing/2014/main" id="{A465A5F1-86D8-2E46-9B59-0C5A5CCA9B2E}"/>
              </a:ext>
            </a:extLst>
          </p:cNvPr>
          <p:cNvPicPr>
            <a:picLocks noChangeAspect="1"/>
          </p:cNvPicPr>
          <p:nvPr/>
        </p:nvPicPr>
        <p:blipFill>
          <a:blip r:embed="rId4"/>
          <a:stretch>
            <a:fillRect/>
          </a:stretch>
        </p:blipFill>
        <p:spPr>
          <a:xfrm>
            <a:off x="10486697" y="148194"/>
            <a:ext cx="1217623" cy="10381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591850D0-17E2-1D4A-90D2-CB68A0F6854F}"/>
              </a:ext>
            </a:extLst>
          </p:cNvPr>
          <p:cNvSpPr/>
          <p:nvPr/>
        </p:nvSpPr>
        <p:spPr>
          <a:xfrm>
            <a:off x="2387600" y="287772"/>
            <a:ext cx="7669763"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OUTPUT</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0F6744-591B-3CF1-0CD7-2B1A1CC358C5}"/>
              </a:ext>
            </a:extLst>
          </p:cNvPr>
          <p:cNvPicPr>
            <a:picLocks noChangeAspect="1"/>
          </p:cNvPicPr>
          <p:nvPr/>
        </p:nvPicPr>
        <p:blipFill>
          <a:blip r:embed="rId2"/>
          <a:stretch>
            <a:fillRect/>
          </a:stretch>
        </p:blipFill>
        <p:spPr>
          <a:xfrm>
            <a:off x="2256816" y="1445369"/>
            <a:ext cx="8589545" cy="4648200"/>
          </a:xfrm>
          <a:prstGeom prst="rect">
            <a:avLst/>
          </a:prstGeom>
          <a:effectLst>
            <a:glow rad="127000">
              <a:schemeClr val="accent1"/>
            </a:glow>
          </a:effectLst>
        </p:spPr>
      </p:pic>
    </p:spTree>
    <p:extLst>
      <p:ext uri="{BB962C8B-B14F-4D97-AF65-F5344CB8AC3E}">
        <p14:creationId xmlns:p14="http://schemas.microsoft.com/office/powerpoint/2010/main" val="223961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4956048" y="295529"/>
            <a:ext cx="2468880" cy="418846"/>
          </a:xfrm>
          <a:prstGeom prst="rect">
            <a:avLst/>
          </a:prstGeom>
          <a:noFill/>
          <a:ln/>
        </p:spPr>
        <p:txBody>
          <a:bodyPr wrap="square" rtlCol="0" anchor="ctr"/>
          <a:lstStyle/>
          <a:p>
            <a:pPr marL="0" indent="0" algn="ctr">
              <a:buNone/>
            </a:pPr>
            <a:r>
              <a:rPr lang="en-US" sz="28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MODULE 5</a:t>
            </a: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Text 4"/>
          <p:cNvSpPr/>
          <p:nvPr/>
        </p:nvSpPr>
        <p:spPr>
          <a:xfrm>
            <a:off x="2184400" y="685038"/>
            <a:ext cx="8117840" cy="640080"/>
          </a:xfrm>
          <a:prstGeom prst="rect">
            <a:avLst/>
          </a:prstGeom>
          <a:noFill/>
          <a:ln/>
        </p:spPr>
        <p:txBody>
          <a:bodyPr wrap="square" rtlCol="0" anchor="ctr"/>
          <a:lstStyle/>
          <a:p>
            <a:pPr marL="0" indent="0" algn="ctr">
              <a:buNone/>
            </a:pPr>
            <a:r>
              <a:rPr lang="en-US" sz="3200" b="1" dirty="0">
                <a:solidFill>
                  <a:schemeClr val="tx1">
                    <a:lumMod val="95000"/>
                    <a:lumOff val="5000"/>
                  </a:schemeClr>
                </a:solidFill>
                <a:latin typeface="Times New Roman" panose="02020603050405020304" pitchFamily="18" charset="0"/>
                <a:ea typeface="Cambria" pitchFamily="34" charset="-122"/>
                <a:cs typeface="Times New Roman" panose="02020603050405020304" pitchFamily="18" charset="0"/>
              </a:rPr>
              <a:t>Personalized News Recommendation System</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Shape 5"/>
          <p:cNvSpPr/>
          <p:nvPr/>
        </p:nvSpPr>
        <p:spPr>
          <a:xfrm>
            <a:off x="297180" y="1850644"/>
            <a:ext cx="4023360" cy="4412996"/>
          </a:xfrm>
          <a:prstGeom prst="rect">
            <a:avLst/>
          </a:prstGeom>
          <a:solidFill>
            <a:schemeClr val="bg1">
              <a:lumMod val="95000"/>
            </a:schemeClr>
          </a:solidFill>
          <a:ln/>
        </p:spPr>
        <p:txBody>
          <a:bodyPr/>
          <a:lstStyle/>
          <a:p>
            <a:endParaRPr lang="en-IN"/>
          </a:p>
        </p:txBody>
      </p:sp>
      <p:sp>
        <p:nvSpPr>
          <p:cNvPr id="8" name="Text 6"/>
          <p:cNvSpPr/>
          <p:nvPr/>
        </p:nvSpPr>
        <p:spPr>
          <a:xfrm>
            <a:off x="457200" y="2304288"/>
            <a:ext cx="3017520" cy="320040"/>
          </a:xfrm>
          <a:prstGeom prst="rect">
            <a:avLst/>
          </a:prstGeom>
          <a:noFill/>
          <a:ln/>
        </p:spPr>
        <p:txBody>
          <a:bodyPr wrap="square" rtlCol="0" anchor="ctr"/>
          <a:lstStyle/>
          <a:p>
            <a:pPr marL="0" indent="0">
              <a:buNone/>
            </a:pPr>
            <a:r>
              <a:rPr lang="en-US" sz="1600" b="1" kern="0" spc="1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PURPOSE</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Text 7"/>
          <p:cNvSpPr/>
          <p:nvPr/>
        </p:nvSpPr>
        <p:spPr>
          <a:xfrm>
            <a:off x="411480" y="2743200"/>
            <a:ext cx="3108960" cy="2377440"/>
          </a:xfrm>
          <a:prstGeom prst="rect">
            <a:avLst/>
          </a:prstGeom>
          <a:noFill/>
          <a:ln/>
        </p:spPr>
        <p:txBody>
          <a:bodyPr wrap="square" rtlCol="0" anchor="t"/>
          <a:lstStyle/>
          <a:p>
            <a:pPr marL="0" indent="0">
              <a:lnSpc>
                <a:spcPct val="130000"/>
              </a:lnSpc>
              <a:buNone/>
            </a:pPr>
            <a:r>
              <a:rPr lang="en-US" sz="1600" i="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To recommend relevant news based on the user's interests, preferences, and reading behavior.</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 name="Text 8"/>
          <p:cNvSpPr/>
          <p:nvPr/>
        </p:nvSpPr>
        <p:spPr>
          <a:xfrm>
            <a:off x="4572000" y="1783080"/>
            <a:ext cx="3657600" cy="320040"/>
          </a:xfrm>
          <a:prstGeom prst="rect">
            <a:avLst/>
          </a:prstGeom>
          <a:noFill/>
          <a:ln/>
        </p:spPr>
        <p:txBody>
          <a:bodyPr wrap="square" rtlCol="0" anchor="ctr"/>
          <a:lstStyle/>
          <a:p>
            <a:pPr marL="0" indent="0">
              <a:buNone/>
            </a:pPr>
            <a:r>
              <a:rPr lang="en-US" sz="1600" b="1" kern="0" spc="1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FUNCTIONS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Shape 9"/>
          <p:cNvSpPr/>
          <p:nvPr/>
        </p:nvSpPr>
        <p:spPr>
          <a:xfrm>
            <a:off x="4572000" y="2194560"/>
            <a:ext cx="384048" cy="384048"/>
          </a:xfrm>
          <a:prstGeom prst="ellipse">
            <a:avLst/>
          </a:prstGeom>
          <a:noFill/>
          <a:ln/>
        </p:spPr>
        <p:txBody>
          <a:bodyPr/>
          <a:lstStyle/>
          <a:p>
            <a:endParaRPr lang="en-IN"/>
          </a:p>
        </p:txBody>
      </p:sp>
      <p:sp>
        <p:nvSpPr>
          <p:cNvPr id="12" name="Text 10"/>
          <p:cNvSpPr/>
          <p:nvPr/>
        </p:nvSpPr>
        <p:spPr>
          <a:xfrm>
            <a:off x="4572000" y="2194560"/>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1</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3" name="Text 11"/>
          <p:cNvSpPr/>
          <p:nvPr/>
        </p:nvSpPr>
        <p:spPr>
          <a:xfrm>
            <a:off x="5120640" y="2103120"/>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Collects user preferences and selected news categories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Shape 12"/>
          <p:cNvSpPr/>
          <p:nvPr/>
        </p:nvSpPr>
        <p:spPr>
          <a:xfrm>
            <a:off x="4572000" y="2907792"/>
            <a:ext cx="384048" cy="384048"/>
          </a:xfrm>
          <a:prstGeom prst="ellipse">
            <a:avLst/>
          </a:prstGeom>
          <a:noFill/>
          <a:ln/>
        </p:spPr>
        <p:txBody>
          <a:bodyPr/>
          <a:lstStyle/>
          <a:p>
            <a:endParaRPr lang="en-IN"/>
          </a:p>
        </p:txBody>
      </p:sp>
      <p:sp>
        <p:nvSpPr>
          <p:cNvPr id="15" name="Text 13"/>
          <p:cNvSpPr/>
          <p:nvPr/>
        </p:nvSpPr>
        <p:spPr>
          <a:xfrm>
            <a:off x="4572000" y="2907792"/>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2</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5120640" y="2816352"/>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Analyzes the user's reading history and interaction with articles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7" name="Shape 15"/>
          <p:cNvSpPr/>
          <p:nvPr/>
        </p:nvSpPr>
        <p:spPr>
          <a:xfrm>
            <a:off x="4572000" y="3621024"/>
            <a:ext cx="384048" cy="384048"/>
          </a:xfrm>
          <a:prstGeom prst="ellipse">
            <a:avLst/>
          </a:prstGeom>
          <a:noFill/>
          <a:ln/>
        </p:spPr>
        <p:txBody>
          <a:bodyPr/>
          <a:lstStyle/>
          <a:p>
            <a:endParaRPr lang="en-IN"/>
          </a:p>
        </p:txBody>
      </p:sp>
      <p:sp>
        <p:nvSpPr>
          <p:cNvPr id="18" name="Text 16"/>
          <p:cNvSpPr/>
          <p:nvPr/>
        </p:nvSpPr>
        <p:spPr>
          <a:xfrm>
            <a:off x="4572000" y="3621024"/>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3</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9" name="Text 17"/>
          <p:cNvSpPr/>
          <p:nvPr/>
        </p:nvSpPr>
        <p:spPr>
          <a:xfrm>
            <a:off x="5120640" y="3529584"/>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Identifies topics that are frequently viewed or preferred</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0" name="Shape 18"/>
          <p:cNvSpPr/>
          <p:nvPr/>
        </p:nvSpPr>
        <p:spPr>
          <a:xfrm>
            <a:off x="4572000" y="4334256"/>
            <a:ext cx="384048" cy="384048"/>
          </a:xfrm>
          <a:prstGeom prst="ellipse">
            <a:avLst/>
          </a:prstGeom>
          <a:noFill/>
          <a:ln/>
        </p:spPr>
        <p:txBody>
          <a:bodyPr/>
          <a:lstStyle/>
          <a:p>
            <a:endParaRPr lang="en-IN"/>
          </a:p>
        </p:txBody>
      </p:sp>
      <p:sp>
        <p:nvSpPr>
          <p:cNvPr id="21" name="Text 19"/>
          <p:cNvSpPr/>
          <p:nvPr/>
        </p:nvSpPr>
        <p:spPr>
          <a:xfrm>
            <a:off x="4572000" y="4334256"/>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4</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2" name="Text 20"/>
          <p:cNvSpPr/>
          <p:nvPr/>
        </p:nvSpPr>
        <p:spPr>
          <a:xfrm>
            <a:off x="5120640" y="4242816"/>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Matches user interests with available categorized news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3" name="Shape 21"/>
          <p:cNvSpPr/>
          <p:nvPr/>
        </p:nvSpPr>
        <p:spPr>
          <a:xfrm>
            <a:off x="4572000" y="5047488"/>
            <a:ext cx="384048" cy="384048"/>
          </a:xfrm>
          <a:prstGeom prst="ellipse">
            <a:avLst/>
          </a:prstGeom>
          <a:solidFill>
            <a:srgbClr val="0B3350"/>
          </a:solidFill>
          <a:ln/>
        </p:spPr>
        <p:txBody>
          <a:bodyPr/>
          <a:lstStyle/>
          <a:p>
            <a:endParaRPr lang="en-IN"/>
          </a:p>
        </p:txBody>
      </p:sp>
      <p:sp>
        <p:nvSpPr>
          <p:cNvPr id="24" name="Text 22"/>
          <p:cNvSpPr/>
          <p:nvPr/>
        </p:nvSpPr>
        <p:spPr>
          <a:xfrm>
            <a:off x="4572000" y="5047488"/>
            <a:ext cx="384048" cy="384048"/>
          </a:xfrm>
          <a:prstGeom prst="rect">
            <a:avLst/>
          </a:prstGeom>
          <a:solidFill>
            <a:schemeClr val="bg1"/>
          </a:solid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5</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5" name="Text 23"/>
          <p:cNvSpPr/>
          <p:nvPr/>
        </p:nvSpPr>
        <p:spPr>
          <a:xfrm>
            <a:off x="5120640" y="4956048"/>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Ranks relevant articles using a recommendation algorithm</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6" name="Shape 24"/>
          <p:cNvSpPr/>
          <p:nvPr/>
        </p:nvSpPr>
        <p:spPr>
          <a:xfrm>
            <a:off x="4572000" y="5760720"/>
            <a:ext cx="384048" cy="384048"/>
          </a:xfrm>
          <a:prstGeom prst="ellipse">
            <a:avLst/>
          </a:prstGeom>
          <a:noFill/>
          <a:ln/>
        </p:spPr>
        <p:txBody>
          <a:bodyPr/>
          <a:lstStyle/>
          <a:p>
            <a:endParaRPr lang="en-IN"/>
          </a:p>
        </p:txBody>
      </p:sp>
      <p:sp>
        <p:nvSpPr>
          <p:cNvPr id="27" name="Text 25"/>
          <p:cNvSpPr/>
          <p:nvPr/>
        </p:nvSpPr>
        <p:spPr>
          <a:xfrm>
            <a:off x="4572000" y="5760720"/>
            <a:ext cx="384048" cy="384048"/>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6</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8" name="Text 26"/>
          <p:cNvSpPr/>
          <p:nvPr/>
        </p:nvSpPr>
        <p:spPr>
          <a:xfrm>
            <a:off x="5120640" y="5669280"/>
            <a:ext cx="6492240" cy="594360"/>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Displays a personalized news feed containing suitable articles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9" name="Text 27"/>
          <p:cNvSpPr/>
          <p:nvPr/>
        </p:nvSpPr>
        <p:spPr>
          <a:xfrm>
            <a:off x="11365992" y="6355080"/>
            <a:ext cx="548640" cy="320040"/>
          </a:xfrm>
          <a:prstGeom prst="rect">
            <a:avLst/>
          </a:prstGeom>
          <a:noFill/>
          <a:ln/>
        </p:spPr>
        <p:txBody>
          <a:bodyPr wrap="square" rtlCol="0" anchor="ctr"/>
          <a:lstStyle/>
          <a:p>
            <a:pPr marL="0" indent="0" algn="r">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11</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31" name="Picture 30" descr="SIMATS Transport - Apps on Google Play">
            <a:extLst>
              <a:ext uri="{FF2B5EF4-FFF2-40B4-BE49-F238E27FC236}">
                <a16:creationId xmlns:a16="http://schemas.microsoft.com/office/drawing/2014/main" id="{117EA94A-7344-4043-07AF-4A65A91F1F45}"/>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33" name="Picture 32" descr="SIMATS CGPA Calculator">
            <a:extLst>
              <a:ext uri="{FF2B5EF4-FFF2-40B4-BE49-F238E27FC236}">
                <a16:creationId xmlns:a16="http://schemas.microsoft.com/office/drawing/2014/main" id="{D2F991E2-9BA0-F0E4-BCC2-41B86D086A91}"/>
              </a:ext>
            </a:extLst>
          </p:cNvPr>
          <p:cNvPicPr>
            <a:picLocks noChangeAspect="1"/>
          </p:cNvPicPr>
          <p:nvPr/>
        </p:nvPicPr>
        <p:blipFill>
          <a:blip r:embed="rId4"/>
          <a:stretch>
            <a:fillRect/>
          </a:stretch>
        </p:blipFill>
        <p:spPr>
          <a:xfrm>
            <a:off x="10486697" y="148194"/>
            <a:ext cx="1217623" cy="103810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D83D5F-194E-BD7A-E9E6-BDE812F7DC32}"/>
              </a:ext>
            </a:extLst>
          </p:cNvPr>
          <p:cNvPicPr>
            <a:picLocks noChangeAspect="1"/>
          </p:cNvPicPr>
          <p:nvPr/>
        </p:nvPicPr>
        <p:blipFill>
          <a:blip r:embed="rId2"/>
          <a:stretch>
            <a:fillRect/>
          </a:stretch>
        </p:blipFill>
        <p:spPr>
          <a:xfrm>
            <a:off x="2305454" y="1313234"/>
            <a:ext cx="8204065" cy="4916116"/>
          </a:xfrm>
          <a:prstGeom prst="rect">
            <a:avLst/>
          </a:prstGeom>
          <a:effectLst>
            <a:glow rad="127000">
              <a:schemeClr val="accent1"/>
            </a:glow>
          </a:effectLst>
        </p:spPr>
      </p:pic>
      <p:sp>
        <p:nvSpPr>
          <p:cNvPr id="6" name="Text 1">
            <a:extLst>
              <a:ext uri="{FF2B5EF4-FFF2-40B4-BE49-F238E27FC236}">
                <a16:creationId xmlns:a16="http://schemas.microsoft.com/office/drawing/2014/main" id="{98E876A7-C5C8-7907-54EC-2E0377660768}"/>
              </a:ext>
            </a:extLst>
          </p:cNvPr>
          <p:cNvSpPr/>
          <p:nvPr/>
        </p:nvSpPr>
        <p:spPr>
          <a:xfrm>
            <a:off x="2387600" y="287772"/>
            <a:ext cx="7669763"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OUTPUT</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480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0395F9C8-0751-944F-DA80-6BD7E4B03A43}"/>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4630E32D-8D7E-6A16-2E74-CF21C277A796}"/>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7" name="Text 1">
            <a:extLst>
              <a:ext uri="{FF2B5EF4-FFF2-40B4-BE49-F238E27FC236}">
                <a16:creationId xmlns:a16="http://schemas.microsoft.com/office/drawing/2014/main" id="{DFB86DA1-72AB-9285-A97A-9F47DA39C07F}"/>
              </a:ext>
            </a:extLst>
          </p:cNvPr>
          <p:cNvSpPr/>
          <p:nvPr/>
        </p:nvSpPr>
        <p:spPr>
          <a:xfrm>
            <a:off x="2387600" y="287772"/>
            <a:ext cx="7669763"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OUTPUT</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25C105E-5673-1B4D-7439-9FD266BDF41E}"/>
              </a:ext>
            </a:extLst>
          </p:cNvPr>
          <p:cNvPicPr>
            <a:picLocks noChangeAspect="1"/>
          </p:cNvPicPr>
          <p:nvPr/>
        </p:nvPicPr>
        <p:blipFill>
          <a:blip r:embed="rId4"/>
          <a:stretch>
            <a:fillRect/>
          </a:stretch>
        </p:blipFill>
        <p:spPr>
          <a:xfrm>
            <a:off x="1426745" y="1643974"/>
            <a:ext cx="9591472" cy="4805464"/>
          </a:xfrm>
          <a:prstGeom prst="rect">
            <a:avLst/>
          </a:prstGeom>
          <a:effectLst>
            <a:glow rad="127000">
              <a:schemeClr val="accent1"/>
            </a:glow>
          </a:effectLst>
        </p:spPr>
      </p:pic>
    </p:spTree>
    <p:extLst>
      <p:ext uri="{BB962C8B-B14F-4D97-AF65-F5344CB8AC3E}">
        <p14:creationId xmlns:p14="http://schemas.microsoft.com/office/powerpoint/2010/main" val="847458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21087436-C21D-E021-A4CA-BD5FB20D5233}"/>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75896965-B056-4C59-74A5-DE4F456D2804}"/>
              </a:ext>
            </a:extLst>
          </p:cNvPr>
          <p:cNvPicPr>
            <a:picLocks noChangeAspect="1"/>
          </p:cNvPicPr>
          <p:nvPr/>
        </p:nvPicPr>
        <p:blipFill>
          <a:blip r:embed="rId3"/>
          <a:stretch>
            <a:fillRect/>
          </a:stretch>
        </p:blipFill>
        <p:spPr>
          <a:xfrm>
            <a:off x="10486697" y="157525"/>
            <a:ext cx="1217623" cy="1038108"/>
          </a:xfrm>
          <a:prstGeom prst="rect">
            <a:avLst/>
          </a:prstGeom>
        </p:spPr>
      </p:pic>
      <p:sp>
        <p:nvSpPr>
          <p:cNvPr id="7" name="Text 1">
            <a:extLst>
              <a:ext uri="{FF2B5EF4-FFF2-40B4-BE49-F238E27FC236}">
                <a16:creationId xmlns:a16="http://schemas.microsoft.com/office/drawing/2014/main" id="{37479BA7-2D13-894C-8FD8-38A561D3DE9A}"/>
              </a:ext>
            </a:extLst>
          </p:cNvPr>
          <p:cNvSpPr/>
          <p:nvPr/>
        </p:nvSpPr>
        <p:spPr>
          <a:xfrm>
            <a:off x="4049486" y="287772"/>
            <a:ext cx="4730620"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Results &amp; Discussion</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D49453F-5F58-0003-5373-45B37B868BFD}"/>
              </a:ext>
            </a:extLst>
          </p:cNvPr>
          <p:cNvSpPr txBox="1"/>
          <p:nvPr/>
        </p:nvSpPr>
        <p:spPr>
          <a:xfrm>
            <a:off x="821094" y="1455576"/>
            <a:ext cx="10724606" cy="5028556"/>
          </a:xfrm>
          <a:prstGeom prst="rect">
            <a:avLst/>
          </a:prstGeom>
          <a:solidFill>
            <a:schemeClr val="bg1">
              <a:lumMod val="95000"/>
            </a:schemeClr>
          </a:solidFill>
        </p:spPr>
        <p:txBody>
          <a:bodyPr wrap="square" rtlCol="0">
            <a:spAutoFit/>
          </a:bodyPr>
          <a:lstStyle/>
          <a:p>
            <a:pPr marL="342900" lvl="0" indent="-34290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Successful News Collection:</a:t>
            </a:r>
            <a:r>
              <a:rPr lang="en-IN" dirty="0">
                <a:latin typeface="Times New Roman" panose="02020603050405020304" pitchFamily="18" charset="0"/>
                <a:cs typeface="Times New Roman" panose="02020603050405020304" pitchFamily="18" charset="0"/>
              </a:rPr>
              <a:t> News articles were collected and pre-processed to remove duplicate, irrelevant, and noisy content. </a:t>
            </a:r>
          </a:p>
          <a:p>
            <a:pPr marL="342900" lvl="0" indent="-34290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Accurate News Categorization:</a:t>
            </a:r>
            <a:r>
              <a:rPr lang="en-IN" dirty="0">
                <a:latin typeface="Times New Roman" panose="02020603050405020304" pitchFamily="18" charset="0"/>
                <a:cs typeface="Times New Roman" panose="02020603050405020304" pitchFamily="18" charset="0"/>
              </a:rPr>
              <a:t> The system classified articles into categories such as Politics, Sports, Technology, Business, and Entertainment. </a:t>
            </a:r>
          </a:p>
          <a:p>
            <a:pPr marL="342900" lvl="0" indent="-34290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Effective Summarization:</a:t>
            </a:r>
            <a:r>
              <a:rPr lang="en-IN" dirty="0">
                <a:latin typeface="Times New Roman" panose="02020603050405020304" pitchFamily="18" charset="0"/>
                <a:cs typeface="Times New Roman" panose="02020603050405020304" pitchFamily="18" charset="0"/>
              </a:rPr>
              <a:t> The summarization module generated concise summaries, reducing the time required to read lengthy news articles. </a:t>
            </a:r>
          </a:p>
          <a:p>
            <a:pPr marL="342900" lvl="0" indent="-34290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Multilingual Accessibility:</a:t>
            </a:r>
            <a:r>
              <a:rPr lang="en-IN" dirty="0">
                <a:latin typeface="Times New Roman" panose="02020603050405020304" pitchFamily="18" charset="0"/>
                <a:cs typeface="Times New Roman" panose="02020603050405020304" pitchFamily="18" charset="0"/>
              </a:rPr>
              <a:t> News articles and summaries could be translated into multiple languages, making the system accessible to a wider range of users. </a:t>
            </a:r>
          </a:p>
          <a:p>
            <a:pPr marL="342900" lvl="0" indent="-34290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Personalized Recommendations:</a:t>
            </a:r>
            <a:r>
              <a:rPr lang="en-IN" dirty="0">
                <a:latin typeface="Times New Roman" panose="02020603050405020304" pitchFamily="18" charset="0"/>
                <a:cs typeface="Times New Roman" panose="02020603050405020304" pitchFamily="18" charset="0"/>
              </a:rPr>
              <a:t> The recommendation module identified user interests and provided relevant news based on categories and reading preferences. </a:t>
            </a:r>
          </a:p>
          <a:p>
            <a:pPr marL="342900" lvl="0" indent="-342900" algn="just">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Integrated News Platform:</a:t>
            </a:r>
            <a:r>
              <a:rPr lang="en-IN" dirty="0">
                <a:latin typeface="Times New Roman" panose="02020603050405020304" pitchFamily="18" charset="0"/>
                <a:cs typeface="Times New Roman" panose="02020603050405020304" pitchFamily="18" charset="0"/>
              </a:rPr>
              <a:t> The combined system provided categorized, summarized, multilingual, and personalized news through a single platform, improving overall user experience.</a:t>
            </a:r>
          </a:p>
        </p:txBody>
      </p:sp>
    </p:spTree>
    <p:extLst>
      <p:ext uri="{BB962C8B-B14F-4D97-AF65-F5344CB8AC3E}">
        <p14:creationId xmlns:p14="http://schemas.microsoft.com/office/powerpoint/2010/main" val="2442711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A40B45BB-9CDC-D95A-ED11-9433C1803C59}"/>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B652040B-8FBB-28A4-2CCA-A11EBAF42214}"/>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7" name="Text 1">
            <a:extLst>
              <a:ext uri="{FF2B5EF4-FFF2-40B4-BE49-F238E27FC236}">
                <a16:creationId xmlns:a16="http://schemas.microsoft.com/office/drawing/2014/main" id="{C6C4F3D1-1677-97AD-280F-238C0A4AC923}"/>
              </a:ext>
            </a:extLst>
          </p:cNvPr>
          <p:cNvSpPr/>
          <p:nvPr/>
        </p:nvSpPr>
        <p:spPr>
          <a:xfrm>
            <a:off x="2387600" y="287772"/>
            <a:ext cx="7669763"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ADVANTAGES &amp; APPLICATIONS</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268D08D-8919-F6B1-6089-E4717549B660}"/>
              </a:ext>
            </a:extLst>
          </p:cNvPr>
          <p:cNvSpPr txBox="1"/>
          <p:nvPr/>
        </p:nvSpPr>
        <p:spPr>
          <a:xfrm>
            <a:off x="307910" y="1513877"/>
            <a:ext cx="5682343" cy="4849404"/>
          </a:xfrm>
          <a:prstGeom prst="rect">
            <a:avLst/>
          </a:prstGeom>
          <a:solidFill>
            <a:schemeClr val="bg1">
              <a:lumMod val="95000"/>
            </a:schemeClr>
          </a:solidFill>
        </p:spPr>
        <p:txBody>
          <a:bodyPr wrap="square" rtlCol="0">
            <a:spAutoFit/>
          </a:bodyPr>
          <a:lstStyle/>
          <a:p>
            <a:pPr algn="just">
              <a:lnSpc>
                <a:spcPct val="150000"/>
              </a:lnSpc>
              <a:buNone/>
            </a:pPr>
            <a:r>
              <a:rPr lang="en-IN" sz="1700" b="1" dirty="0">
                <a:latin typeface="Times New Roman" panose="02020603050405020304" pitchFamily="18" charset="0"/>
                <a:cs typeface="Times New Roman" panose="02020603050405020304" pitchFamily="18" charset="0"/>
              </a:rPr>
              <a:t>Advantages</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Automated News Processing</a:t>
            </a:r>
            <a:r>
              <a:rPr lang="en-IN" sz="1600" dirty="0">
                <a:latin typeface="Times New Roman" panose="02020603050405020304" pitchFamily="18" charset="0"/>
                <a:cs typeface="Times New Roman" panose="02020603050405020304" pitchFamily="18" charset="0"/>
              </a:rPr>
              <a:t> – Reduces manual effort in collecting and organizing news.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Faster Information Access</a:t>
            </a:r>
            <a:r>
              <a:rPr lang="en-IN" sz="1600" dirty="0">
                <a:latin typeface="Times New Roman" panose="02020603050405020304" pitchFamily="18" charset="0"/>
                <a:cs typeface="Times New Roman" panose="02020603050405020304" pitchFamily="18" charset="0"/>
              </a:rPr>
              <a:t> – Summaries help users understand lengthy articles quickly.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Accurate Categorization</a:t>
            </a:r>
            <a:r>
              <a:rPr lang="en-IN" sz="1600" dirty="0">
                <a:latin typeface="Times New Roman" panose="02020603050405020304" pitchFamily="18" charset="0"/>
                <a:cs typeface="Times New Roman" panose="02020603050405020304" pitchFamily="18" charset="0"/>
              </a:rPr>
              <a:t> – Automatically organizes news into relevant topics.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Multilingual Support</a:t>
            </a:r>
            <a:r>
              <a:rPr lang="en-IN" sz="1600" dirty="0">
                <a:latin typeface="Times New Roman" panose="02020603050405020304" pitchFamily="18" charset="0"/>
                <a:cs typeface="Times New Roman" panose="02020603050405020304" pitchFamily="18" charset="0"/>
              </a:rPr>
              <a:t> – Makes news accessible in different languages.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Personalized Experience</a:t>
            </a:r>
            <a:r>
              <a:rPr lang="en-IN" sz="1600" dirty="0">
                <a:latin typeface="Times New Roman" panose="02020603050405020304" pitchFamily="18" charset="0"/>
                <a:cs typeface="Times New Roman" panose="02020603050405020304" pitchFamily="18" charset="0"/>
              </a:rPr>
              <a:t> – Recommends news according to user interests.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User-Friendly Platform</a:t>
            </a:r>
            <a:r>
              <a:rPr lang="en-IN" sz="1600" dirty="0">
                <a:latin typeface="Times New Roman" panose="02020603050405020304" pitchFamily="18" charset="0"/>
                <a:cs typeface="Times New Roman" panose="02020603050405020304" pitchFamily="18" charset="0"/>
              </a:rPr>
              <a:t> – Provides multiple news services in one integrated system.</a:t>
            </a:r>
          </a:p>
        </p:txBody>
      </p:sp>
      <p:sp>
        <p:nvSpPr>
          <p:cNvPr id="9" name="TextBox 8">
            <a:extLst>
              <a:ext uri="{FF2B5EF4-FFF2-40B4-BE49-F238E27FC236}">
                <a16:creationId xmlns:a16="http://schemas.microsoft.com/office/drawing/2014/main" id="{CD01EC36-E97A-C7B8-6292-9DDCEF533AFD}"/>
              </a:ext>
            </a:extLst>
          </p:cNvPr>
          <p:cNvSpPr txBox="1"/>
          <p:nvPr/>
        </p:nvSpPr>
        <p:spPr>
          <a:xfrm>
            <a:off x="6323045" y="1513877"/>
            <a:ext cx="5561045" cy="4849404"/>
          </a:xfrm>
          <a:prstGeom prst="rect">
            <a:avLst/>
          </a:prstGeom>
          <a:solidFill>
            <a:schemeClr val="bg1">
              <a:lumMod val="95000"/>
            </a:schemeClr>
          </a:solidFill>
        </p:spPr>
        <p:txBody>
          <a:bodyPr wrap="square" rtlCol="0">
            <a:spAutoFit/>
          </a:bodyPr>
          <a:lstStyle/>
          <a:p>
            <a:pPr algn="just">
              <a:lnSpc>
                <a:spcPct val="150000"/>
              </a:lnSpc>
              <a:buNone/>
            </a:pPr>
            <a:r>
              <a:rPr lang="en-IN" sz="1700" b="1" dirty="0">
                <a:latin typeface="Times New Roman" panose="02020603050405020304" pitchFamily="18" charset="0"/>
                <a:cs typeface="Times New Roman" panose="02020603050405020304" pitchFamily="18" charset="0"/>
              </a:rPr>
              <a:t>Applications</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News Websites &amp; Applications</a:t>
            </a:r>
            <a:r>
              <a:rPr lang="en-IN" sz="1600" dirty="0">
                <a:latin typeface="Times New Roman" panose="02020603050405020304" pitchFamily="18" charset="0"/>
                <a:cs typeface="Times New Roman" panose="02020603050405020304" pitchFamily="18" charset="0"/>
              </a:rPr>
              <a:t> – Automated categorization, summarization, and recommendations.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Digital Media Platforms</a:t>
            </a:r>
            <a:r>
              <a:rPr lang="en-IN" sz="1600" dirty="0">
                <a:latin typeface="Times New Roman" panose="02020603050405020304" pitchFamily="18" charset="0"/>
                <a:cs typeface="Times New Roman" panose="02020603050405020304" pitchFamily="18" charset="0"/>
              </a:rPr>
              <a:t> – Personalized news feeds for users.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Educational Platforms</a:t>
            </a:r>
            <a:r>
              <a:rPr lang="en-IN" sz="1600" dirty="0">
                <a:latin typeface="Times New Roman" panose="02020603050405020304" pitchFamily="18" charset="0"/>
                <a:cs typeface="Times New Roman" panose="02020603050405020304" pitchFamily="18" charset="0"/>
              </a:rPr>
              <a:t> – Provides simplified news for students and learners.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Multilingual News Services</a:t>
            </a:r>
            <a:r>
              <a:rPr lang="en-IN" sz="1600" dirty="0">
                <a:latin typeface="Times New Roman" panose="02020603050405020304" pitchFamily="18" charset="0"/>
                <a:cs typeface="Times New Roman" panose="02020603050405020304" pitchFamily="18" charset="0"/>
              </a:rPr>
              <a:t> – Delivers news in regional and international languages.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News Monitoring Systems</a:t>
            </a:r>
            <a:r>
              <a:rPr lang="en-IN" sz="1600" dirty="0">
                <a:latin typeface="Times New Roman" panose="02020603050405020304" pitchFamily="18" charset="0"/>
                <a:cs typeface="Times New Roman" panose="02020603050405020304" pitchFamily="18" charset="0"/>
              </a:rPr>
              <a:t> – Helps organizations track news related to specific topics. </a:t>
            </a:r>
          </a:p>
          <a:p>
            <a:pPr marL="342900" lvl="0" indent="-342900" algn="just">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Smart Information Assistants</a:t>
            </a:r>
            <a:r>
              <a:rPr lang="en-IN" sz="1600" dirty="0">
                <a:latin typeface="Times New Roman" panose="02020603050405020304" pitchFamily="18" charset="0"/>
                <a:cs typeface="Times New Roman" panose="02020603050405020304" pitchFamily="18" charset="0"/>
              </a:rPr>
              <a:t> – Can be integrated with AI chatbots and voice assistants. </a:t>
            </a:r>
          </a:p>
        </p:txBody>
      </p:sp>
    </p:spTree>
    <p:extLst>
      <p:ext uri="{BB962C8B-B14F-4D97-AF65-F5344CB8AC3E}">
        <p14:creationId xmlns:p14="http://schemas.microsoft.com/office/powerpoint/2010/main" val="3429264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FDEFD61B-0943-4083-725D-EE15A9D1CEB7}"/>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E88A2545-9BEB-A7D4-D94C-9BA1446B844E}"/>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7" name="Text 1">
            <a:extLst>
              <a:ext uri="{FF2B5EF4-FFF2-40B4-BE49-F238E27FC236}">
                <a16:creationId xmlns:a16="http://schemas.microsoft.com/office/drawing/2014/main" id="{375960ED-221F-3465-5DFF-3E0266E24A4C}"/>
              </a:ext>
            </a:extLst>
          </p:cNvPr>
          <p:cNvSpPr/>
          <p:nvPr/>
        </p:nvSpPr>
        <p:spPr>
          <a:xfrm>
            <a:off x="4531836" y="287772"/>
            <a:ext cx="3763077"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FUTURE SCOPE</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EC54034-31EF-5CD3-222D-A76E0F5E3563}"/>
              </a:ext>
            </a:extLst>
          </p:cNvPr>
          <p:cNvSpPr txBox="1"/>
          <p:nvPr/>
        </p:nvSpPr>
        <p:spPr>
          <a:xfrm>
            <a:off x="2090057" y="1987421"/>
            <a:ext cx="9274629" cy="3331938"/>
          </a:xfrm>
          <a:prstGeom prst="rect">
            <a:avLst/>
          </a:prstGeom>
          <a:solidFill>
            <a:schemeClr val="bg1">
              <a:lumMod val="95000"/>
            </a:schemeClr>
          </a:solidFill>
        </p:spPr>
        <p:txBody>
          <a:bodyPr wrap="square" rtlCol="0">
            <a:spAutoFit/>
          </a:bodyPr>
          <a:lstStyle/>
          <a:p>
            <a:pPr marL="285750" lvl="0" indent="-285750">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Fake News Detection</a:t>
            </a:r>
            <a:r>
              <a:rPr lang="en-IN" dirty="0">
                <a:latin typeface="Times New Roman" panose="02020603050405020304" pitchFamily="18" charset="0"/>
                <a:cs typeface="Times New Roman" panose="02020603050405020304" pitchFamily="18" charset="0"/>
              </a:rPr>
              <a:t> – Identify misleading or unreliable news automatically. </a:t>
            </a:r>
          </a:p>
          <a:p>
            <a:pPr marL="285750" lvl="0" indent="-285750">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Real-Time News Processing</a:t>
            </a:r>
            <a:r>
              <a:rPr lang="en-IN" dirty="0">
                <a:latin typeface="Times New Roman" panose="02020603050405020304" pitchFamily="18" charset="0"/>
                <a:cs typeface="Times New Roman" panose="02020603050405020304" pitchFamily="18" charset="0"/>
              </a:rPr>
              <a:t> – Process breaking news as soon as it is published. </a:t>
            </a:r>
          </a:p>
          <a:p>
            <a:pPr marL="285750" lvl="0" indent="-285750">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Voice-Based News</a:t>
            </a:r>
            <a:r>
              <a:rPr lang="en-IN" dirty="0">
                <a:latin typeface="Times New Roman" panose="02020603050405020304" pitchFamily="18" charset="0"/>
                <a:cs typeface="Times New Roman" panose="02020603050405020304" pitchFamily="18" charset="0"/>
              </a:rPr>
              <a:t> – Allow users to listen to summarized news. </a:t>
            </a:r>
          </a:p>
          <a:p>
            <a:pPr marL="285750" lvl="0" indent="-285750">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More Indian Languages</a:t>
            </a:r>
            <a:r>
              <a:rPr lang="en-IN" dirty="0">
                <a:latin typeface="Times New Roman" panose="02020603050405020304" pitchFamily="18" charset="0"/>
                <a:cs typeface="Times New Roman" panose="02020603050405020304" pitchFamily="18" charset="0"/>
              </a:rPr>
              <a:t> – Extend support to additional regional languages. </a:t>
            </a:r>
          </a:p>
          <a:p>
            <a:pPr marL="285750" lvl="0" indent="-285750">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Advanced Personalization</a:t>
            </a:r>
            <a:r>
              <a:rPr lang="en-IN" dirty="0">
                <a:latin typeface="Times New Roman" panose="02020603050405020304" pitchFamily="18" charset="0"/>
                <a:cs typeface="Times New Roman" panose="02020603050405020304" pitchFamily="18" charset="0"/>
              </a:rPr>
              <a:t> – Use user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and context for smarter recommendations. </a:t>
            </a:r>
          </a:p>
          <a:p>
            <a:pPr marL="285750" lvl="0" indent="-285750">
              <a:lnSpc>
                <a:spcPct val="2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Sentiment &amp; Trend Analysis</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public sentiment and identify trending topics. </a:t>
            </a:r>
          </a:p>
        </p:txBody>
      </p:sp>
    </p:spTree>
    <p:extLst>
      <p:ext uri="{BB962C8B-B14F-4D97-AF65-F5344CB8AC3E}">
        <p14:creationId xmlns:p14="http://schemas.microsoft.com/office/powerpoint/2010/main" val="1333735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4699788" y="287772"/>
            <a:ext cx="3474720"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CONCLUSION</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Shape 3"/>
          <p:cNvSpPr/>
          <p:nvPr/>
        </p:nvSpPr>
        <p:spPr>
          <a:xfrm>
            <a:off x="548640" y="1783080"/>
            <a:ext cx="5349240" cy="1207008"/>
          </a:xfrm>
          <a:prstGeom prst="roundRect">
            <a:avLst>
              <a:gd name="adj" fmla="val 4545"/>
            </a:avLst>
          </a:prstGeom>
          <a:solidFill>
            <a:schemeClr val="bg1">
              <a:lumMod val="95000"/>
            </a:schemeClr>
          </a:solidFill>
          <a:ln/>
        </p:spPr>
        <p:txBody>
          <a:bodyPr/>
          <a:lstStyle/>
          <a:p>
            <a:endParaRPr lang="en-IN"/>
          </a:p>
        </p:txBody>
      </p:sp>
      <p:sp>
        <p:nvSpPr>
          <p:cNvPr id="6" name="Shape 4"/>
          <p:cNvSpPr/>
          <p:nvPr/>
        </p:nvSpPr>
        <p:spPr>
          <a:xfrm>
            <a:off x="804672" y="2130552"/>
            <a:ext cx="502920" cy="502920"/>
          </a:xfrm>
          <a:prstGeom prst="ellipse">
            <a:avLst/>
          </a:prstGeom>
          <a:noFill/>
          <a:ln/>
        </p:spPr>
        <p:txBody>
          <a:bodyPr/>
          <a:lstStyle/>
          <a:p>
            <a:endParaRPr lang="en-IN"/>
          </a:p>
        </p:txBody>
      </p:sp>
      <p:sp>
        <p:nvSpPr>
          <p:cNvPr id="7" name="Text 5"/>
          <p:cNvSpPr/>
          <p:nvPr/>
        </p:nvSpPr>
        <p:spPr>
          <a:xfrm>
            <a:off x="804672" y="2130552"/>
            <a:ext cx="502920" cy="502920"/>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Text 6"/>
          <p:cNvSpPr/>
          <p:nvPr/>
        </p:nvSpPr>
        <p:spPr>
          <a:xfrm>
            <a:off x="1508760" y="1892808"/>
            <a:ext cx="4114800" cy="987552"/>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Provides an intelligent solution for processing large amounts of online news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Shape 7"/>
          <p:cNvSpPr/>
          <p:nvPr/>
        </p:nvSpPr>
        <p:spPr>
          <a:xfrm>
            <a:off x="548640" y="3200400"/>
            <a:ext cx="5349240" cy="1207008"/>
          </a:xfrm>
          <a:prstGeom prst="roundRect">
            <a:avLst>
              <a:gd name="adj" fmla="val 4545"/>
            </a:avLst>
          </a:prstGeom>
          <a:solidFill>
            <a:schemeClr val="bg1">
              <a:lumMod val="95000"/>
            </a:schemeClr>
          </a:solidFill>
          <a:ln/>
        </p:spPr>
        <p:txBody>
          <a:bodyPr/>
          <a:lstStyle/>
          <a:p>
            <a:endParaRPr lang="en-IN"/>
          </a:p>
        </p:txBody>
      </p:sp>
      <p:sp>
        <p:nvSpPr>
          <p:cNvPr id="10" name="Shape 8"/>
          <p:cNvSpPr/>
          <p:nvPr/>
        </p:nvSpPr>
        <p:spPr>
          <a:xfrm>
            <a:off x="804672" y="3547872"/>
            <a:ext cx="502920" cy="502920"/>
          </a:xfrm>
          <a:prstGeom prst="ellipse">
            <a:avLst/>
          </a:prstGeom>
          <a:noFill/>
          <a:ln/>
        </p:spPr>
        <p:txBody>
          <a:bodyPr/>
          <a:lstStyle/>
          <a:p>
            <a:endParaRPr lang="en-IN"/>
          </a:p>
        </p:txBody>
      </p:sp>
      <p:sp>
        <p:nvSpPr>
          <p:cNvPr id="11" name="Text 9"/>
          <p:cNvSpPr/>
          <p:nvPr/>
        </p:nvSpPr>
        <p:spPr>
          <a:xfrm>
            <a:off x="804672" y="3547872"/>
            <a:ext cx="502920" cy="502920"/>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Text 10"/>
          <p:cNvSpPr/>
          <p:nvPr/>
        </p:nvSpPr>
        <p:spPr>
          <a:xfrm>
            <a:off x="1508760" y="3310128"/>
            <a:ext cx="4114800" cy="987552"/>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Automatically collects, cleans, and categorizes news using AI and NLP techniques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3" name="Shape 11"/>
          <p:cNvSpPr/>
          <p:nvPr/>
        </p:nvSpPr>
        <p:spPr>
          <a:xfrm>
            <a:off x="548640" y="4617720"/>
            <a:ext cx="5349240" cy="1207008"/>
          </a:xfrm>
          <a:prstGeom prst="roundRect">
            <a:avLst>
              <a:gd name="adj" fmla="val 4545"/>
            </a:avLst>
          </a:prstGeom>
          <a:solidFill>
            <a:schemeClr val="bg1">
              <a:lumMod val="95000"/>
            </a:schemeClr>
          </a:solidFill>
          <a:ln/>
        </p:spPr>
        <p:txBody>
          <a:bodyPr/>
          <a:lstStyle/>
          <a:p>
            <a:endParaRPr lang="en-IN"/>
          </a:p>
        </p:txBody>
      </p:sp>
      <p:sp>
        <p:nvSpPr>
          <p:cNvPr id="14" name="Shape 12"/>
          <p:cNvSpPr/>
          <p:nvPr/>
        </p:nvSpPr>
        <p:spPr>
          <a:xfrm>
            <a:off x="804672" y="4965192"/>
            <a:ext cx="502920" cy="502920"/>
          </a:xfrm>
          <a:prstGeom prst="ellipse">
            <a:avLst/>
          </a:prstGeom>
          <a:solidFill>
            <a:srgbClr val="FF7B54"/>
          </a:solidFill>
          <a:ln/>
        </p:spPr>
        <p:txBody>
          <a:bodyPr/>
          <a:lstStyle/>
          <a:p>
            <a:endParaRPr lang="en-IN"/>
          </a:p>
        </p:txBody>
      </p:sp>
      <p:sp>
        <p:nvSpPr>
          <p:cNvPr id="15" name="Text 13"/>
          <p:cNvSpPr/>
          <p:nvPr/>
        </p:nvSpPr>
        <p:spPr>
          <a:xfrm>
            <a:off x="804672" y="4965192"/>
            <a:ext cx="502920" cy="502920"/>
          </a:xfrm>
          <a:prstGeom prst="rect">
            <a:avLst/>
          </a:prstGeom>
          <a:solidFill>
            <a:schemeClr val="bg1">
              <a:lumMod val="95000"/>
            </a:schemeClr>
          </a:solid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508760" y="4727448"/>
            <a:ext cx="4114800" cy="987552"/>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The summarization module helps users understand lengthy news in less time</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7" name="Shape 15"/>
          <p:cNvSpPr/>
          <p:nvPr/>
        </p:nvSpPr>
        <p:spPr>
          <a:xfrm>
            <a:off x="6263640" y="1783080"/>
            <a:ext cx="5349240" cy="1207008"/>
          </a:xfrm>
          <a:prstGeom prst="roundRect">
            <a:avLst>
              <a:gd name="adj" fmla="val 4545"/>
            </a:avLst>
          </a:prstGeom>
          <a:solidFill>
            <a:schemeClr val="bg1">
              <a:lumMod val="95000"/>
            </a:schemeClr>
          </a:solidFill>
          <a:ln/>
        </p:spPr>
        <p:txBody>
          <a:bodyPr/>
          <a:lstStyle/>
          <a:p>
            <a:endParaRPr lang="en-IN"/>
          </a:p>
        </p:txBody>
      </p:sp>
      <p:sp>
        <p:nvSpPr>
          <p:cNvPr id="18" name="Shape 16"/>
          <p:cNvSpPr/>
          <p:nvPr/>
        </p:nvSpPr>
        <p:spPr>
          <a:xfrm>
            <a:off x="6519672" y="2130552"/>
            <a:ext cx="502920" cy="502920"/>
          </a:xfrm>
          <a:prstGeom prst="ellipse">
            <a:avLst/>
          </a:prstGeom>
          <a:noFill/>
          <a:ln/>
        </p:spPr>
        <p:txBody>
          <a:bodyPr/>
          <a:lstStyle/>
          <a:p>
            <a:endParaRPr lang="en-IN"/>
          </a:p>
        </p:txBody>
      </p:sp>
      <p:sp>
        <p:nvSpPr>
          <p:cNvPr id="19" name="Text 17"/>
          <p:cNvSpPr/>
          <p:nvPr/>
        </p:nvSpPr>
        <p:spPr>
          <a:xfrm>
            <a:off x="6519672" y="2130552"/>
            <a:ext cx="502920" cy="502920"/>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0" name="Text 18"/>
          <p:cNvSpPr/>
          <p:nvPr/>
        </p:nvSpPr>
        <p:spPr>
          <a:xfrm>
            <a:off x="7223760" y="1892808"/>
            <a:ext cx="4114800" cy="987552"/>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Multilingual translation makes news accessible across language preferences</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1" name="Shape 19"/>
          <p:cNvSpPr/>
          <p:nvPr/>
        </p:nvSpPr>
        <p:spPr>
          <a:xfrm>
            <a:off x="6263640" y="3200400"/>
            <a:ext cx="5349240" cy="1207008"/>
          </a:xfrm>
          <a:prstGeom prst="roundRect">
            <a:avLst>
              <a:gd name="adj" fmla="val 4545"/>
            </a:avLst>
          </a:prstGeom>
          <a:solidFill>
            <a:schemeClr val="bg1">
              <a:lumMod val="95000"/>
            </a:schemeClr>
          </a:solidFill>
          <a:ln/>
        </p:spPr>
        <p:txBody>
          <a:bodyPr/>
          <a:lstStyle/>
          <a:p>
            <a:endParaRPr lang="en-IN"/>
          </a:p>
        </p:txBody>
      </p:sp>
      <p:sp>
        <p:nvSpPr>
          <p:cNvPr id="22" name="Shape 20"/>
          <p:cNvSpPr/>
          <p:nvPr/>
        </p:nvSpPr>
        <p:spPr>
          <a:xfrm>
            <a:off x="6519672" y="3547872"/>
            <a:ext cx="502920" cy="502920"/>
          </a:xfrm>
          <a:prstGeom prst="ellipse">
            <a:avLst/>
          </a:prstGeom>
          <a:solidFill>
            <a:srgbClr val="FF7B54"/>
          </a:solidFill>
          <a:ln/>
        </p:spPr>
        <p:txBody>
          <a:bodyPr/>
          <a:lstStyle/>
          <a:p>
            <a:endParaRPr lang="en-IN"/>
          </a:p>
        </p:txBody>
      </p:sp>
      <p:sp>
        <p:nvSpPr>
          <p:cNvPr id="23" name="Text 21"/>
          <p:cNvSpPr/>
          <p:nvPr/>
        </p:nvSpPr>
        <p:spPr>
          <a:xfrm>
            <a:off x="6519672" y="3547872"/>
            <a:ext cx="502920" cy="502920"/>
          </a:xfrm>
          <a:prstGeom prst="rect">
            <a:avLst/>
          </a:prstGeom>
          <a:solidFill>
            <a:schemeClr val="bg1"/>
          </a:solid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4" name="Text 22"/>
          <p:cNvSpPr/>
          <p:nvPr/>
        </p:nvSpPr>
        <p:spPr>
          <a:xfrm>
            <a:off x="7223760" y="3310128"/>
            <a:ext cx="4114800" cy="987552"/>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The recommendation module personalizes news based on interests and behavior</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5" name="Shape 23"/>
          <p:cNvSpPr/>
          <p:nvPr/>
        </p:nvSpPr>
        <p:spPr>
          <a:xfrm>
            <a:off x="6263640" y="4617720"/>
            <a:ext cx="5349240" cy="1207008"/>
          </a:xfrm>
          <a:prstGeom prst="roundRect">
            <a:avLst>
              <a:gd name="adj" fmla="val 4545"/>
            </a:avLst>
          </a:prstGeom>
          <a:solidFill>
            <a:schemeClr val="bg1">
              <a:lumMod val="95000"/>
            </a:schemeClr>
          </a:solidFill>
          <a:ln/>
        </p:spPr>
        <p:txBody>
          <a:bodyPr/>
          <a:lstStyle/>
          <a:p>
            <a:endParaRPr lang="en-IN"/>
          </a:p>
        </p:txBody>
      </p:sp>
      <p:sp>
        <p:nvSpPr>
          <p:cNvPr id="26" name="Shape 24"/>
          <p:cNvSpPr/>
          <p:nvPr/>
        </p:nvSpPr>
        <p:spPr>
          <a:xfrm>
            <a:off x="6519672" y="4965192"/>
            <a:ext cx="502920" cy="502920"/>
          </a:xfrm>
          <a:prstGeom prst="ellipse">
            <a:avLst/>
          </a:prstGeom>
          <a:noFill/>
          <a:ln/>
        </p:spPr>
        <p:txBody>
          <a:bodyPr/>
          <a:lstStyle/>
          <a:p>
            <a:endParaRPr lang="en-IN"/>
          </a:p>
        </p:txBody>
      </p:sp>
      <p:sp>
        <p:nvSpPr>
          <p:cNvPr id="27" name="Text 25"/>
          <p:cNvSpPr/>
          <p:nvPr/>
        </p:nvSpPr>
        <p:spPr>
          <a:xfrm>
            <a:off x="6519672" y="4965192"/>
            <a:ext cx="502920" cy="502920"/>
          </a:xfrm>
          <a:prstGeom prst="rect">
            <a:avLst/>
          </a:prstGeom>
          <a:noFill/>
          <a:ln/>
        </p:spPr>
        <p:txBody>
          <a:bodyPr wrap="square" rtlCol="0" anchor="ctr"/>
          <a:lstStyle/>
          <a:p>
            <a:pPr marL="0" indent="0" algn="ctr">
              <a:buNone/>
            </a:pPr>
            <a:r>
              <a:rPr lang="en-US" sz="16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8" name="Text 26"/>
          <p:cNvSpPr/>
          <p:nvPr/>
        </p:nvSpPr>
        <p:spPr>
          <a:xfrm>
            <a:off x="7223760" y="4727448"/>
            <a:ext cx="4114800" cy="987552"/>
          </a:xfrm>
          <a:prstGeom prst="rect">
            <a:avLst/>
          </a:prstGeom>
          <a:noFill/>
          <a:ln/>
        </p:spPr>
        <p:txBody>
          <a:bodyPr wrap="square" rtlCol="0" anchor="ctr"/>
          <a:lstStyle/>
          <a:p>
            <a:pPr marL="0" indent="0">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Overall, NewsAI makes news organized, accessible, concise, multilingual, and personalized</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9" name="Text 27"/>
          <p:cNvSpPr/>
          <p:nvPr/>
        </p:nvSpPr>
        <p:spPr>
          <a:xfrm>
            <a:off x="11365992" y="6355080"/>
            <a:ext cx="548640" cy="320040"/>
          </a:xfrm>
          <a:prstGeom prst="rect">
            <a:avLst/>
          </a:prstGeom>
          <a:noFill/>
          <a:ln/>
        </p:spPr>
        <p:txBody>
          <a:bodyPr wrap="square" rtlCol="0" anchor="ctr"/>
          <a:lstStyle/>
          <a:p>
            <a:pPr marL="0" indent="0" algn="r">
              <a:buNone/>
            </a:pPr>
            <a:r>
              <a:rPr lang="en-US" sz="16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12</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32" name="Picture 31" descr="SIMATS Transport - Apps on Google Play">
            <a:extLst>
              <a:ext uri="{FF2B5EF4-FFF2-40B4-BE49-F238E27FC236}">
                <a16:creationId xmlns:a16="http://schemas.microsoft.com/office/drawing/2014/main" id="{5AF6CAC2-7997-BCBD-6976-931DB029BCFB}"/>
              </a:ext>
            </a:extLst>
          </p:cNvPr>
          <p:cNvPicPr>
            <a:picLocks noChangeAspect="1"/>
          </p:cNvPicPr>
          <p:nvPr/>
        </p:nvPicPr>
        <p:blipFill>
          <a:blip r:embed="rId3"/>
          <a:stretch>
            <a:fillRect/>
          </a:stretch>
        </p:blipFill>
        <p:spPr>
          <a:xfrm>
            <a:off x="223520" y="118872"/>
            <a:ext cx="2164080" cy="1130808"/>
          </a:xfrm>
          <a:prstGeom prst="rect">
            <a:avLst/>
          </a:prstGeom>
        </p:spPr>
      </p:pic>
      <p:pic>
        <p:nvPicPr>
          <p:cNvPr id="34" name="Picture 33" descr="SIMATS CGPA Calculator">
            <a:extLst>
              <a:ext uri="{FF2B5EF4-FFF2-40B4-BE49-F238E27FC236}">
                <a16:creationId xmlns:a16="http://schemas.microsoft.com/office/drawing/2014/main" id="{974C14DE-E199-99D0-EDC0-9B112491D420}"/>
              </a:ext>
            </a:extLst>
          </p:cNvPr>
          <p:cNvPicPr>
            <a:picLocks noChangeAspect="1"/>
          </p:cNvPicPr>
          <p:nvPr/>
        </p:nvPicPr>
        <p:blipFill>
          <a:blip r:embed="rId4"/>
          <a:stretch>
            <a:fillRect/>
          </a:stretch>
        </p:blipFill>
        <p:spPr>
          <a:xfrm>
            <a:off x="10486697" y="148194"/>
            <a:ext cx="1217623" cy="10381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Transport - Apps on Google Play">
            <a:extLst>
              <a:ext uri="{FF2B5EF4-FFF2-40B4-BE49-F238E27FC236}">
                <a16:creationId xmlns:a16="http://schemas.microsoft.com/office/drawing/2014/main" id="{B7F38B43-5D9E-FF92-CBEC-6D4A093A7CDA}"/>
              </a:ext>
            </a:extLst>
          </p:cNvPr>
          <p:cNvPicPr>
            <a:picLocks noChangeAspect="1"/>
          </p:cNvPicPr>
          <p:nvPr/>
        </p:nvPicPr>
        <p:blipFill>
          <a:blip r:embed="rId2"/>
          <a:stretch>
            <a:fillRect/>
          </a:stretch>
        </p:blipFill>
        <p:spPr>
          <a:xfrm>
            <a:off x="223520" y="118872"/>
            <a:ext cx="2164080" cy="1130808"/>
          </a:xfrm>
          <a:prstGeom prst="rect">
            <a:avLst/>
          </a:prstGeom>
        </p:spPr>
      </p:pic>
      <p:pic>
        <p:nvPicPr>
          <p:cNvPr id="5" name="Picture 4" descr="SIMATS CGPA Calculator">
            <a:extLst>
              <a:ext uri="{FF2B5EF4-FFF2-40B4-BE49-F238E27FC236}">
                <a16:creationId xmlns:a16="http://schemas.microsoft.com/office/drawing/2014/main" id="{BD9A77C5-7964-C95B-A693-F986A6D046D8}"/>
              </a:ext>
            </a:extLst>
          </p:cNvPr>
          <p:cNvPicPr>
            <a:picLocks noChangeAspect="1"/>
          </p:cNvPicPr>
          <p:nvPr/>
        </p:nvPicPr>
        <p:blipFill>
          <a:blip r:embed="rId3"/>
          <a:stretch>
            <a:fillRect/>
          </a:stretch>
        </p:blipFill>
        <p:spPr>
          <a:xfrm>
            <a:off x="10486697" y="148194"/>
            <a:ext cx="1217623" cy="1038108"/>
          </a:xfrm>
          <a:prstGeom prst="rect">
            <a:avLst/>
          </a:prstGeom>
        </p:spPr>
      </p:pic>
      <p:sp>
        <p:nvSpPr>
          <p:cNvPr id="7" name="Text 1">
            <a:extLst>
              <a:ext uri="{FF2B5EF4-FFF2-40B4-BE49-F238E27FC236}">
                <a16:creationId xmlns:a16="http://schemas.microsoft.com/office/drawing/2014/main" id="{709FD7F4-8060-64E4-8EB1-5853C72DA34F}"/>
              </a:ext>
            </a:extLst>
          </p:cNvPr>
          <p:cNvSpPr/>
          <p:nvPr/>
        </p:nvSpPr>
        <p:spPr>
          <a:xfrm>
            <a:off x="4699788" y="287772"/>
            <a:ext cx="3474720" cy="758952"/>
          </a:xfrm>
          <a:prstGeom prst="rect">
            <a:avLst/>
          </a:prstGeom>
          <a:noFill/>
          <a:ln/>
        </p:spPr>
        <p:txBody>
          <a:bodyPr wrap="square" rtlCol="0" anchor="ctr"/>
          <a:lstStyle/>
          <a:p>
            <a:pPr marL="0" indent="0" algn="ctr">
              <a:buNone/>
            </a:pPr>
            <a:r>
              <a:rPr lang="en-US" sz="3200" b="1" kern="0" spc="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REFERENCES</a:t>
            </a:r>
            <a:endParaRPr lang="en-US" sz="3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AE64614-144D-C919-8221-8AB2F492041E}"/>
              </a:ext>
            </a:extLst>
          </p:cNvPr>
          <p:cNvSpPr txBox="1"/>
          <p:nvPr/>
        </p:nvSpPr>
        <p:spPr>
          <a:xfrm>
            <a:off x="1147864" y="1548023"/>
            <a:ext cx="10408596" cy="4754250"/>
          </a:xfrm>
          <a:prstGeom prst="rect">
            <a:avLst/>
          </a:prstGeom>
          <a:solidFill>
            <a:schemeClr val="bg1">
              <a:lumMod val="95000"/>
            </a:schemeClr>
          </a:solidFill>
        </p:spPr>
        <p:txBody>
          <a:bodyPr wrap="square" rtlCol="0">
            <a:spAutoFit/>
          </a:bodyPr>
          <a:lstStyle/>
          <a:p>
            <a:pPr marL="342900" indent="-342900">
              <a:lnSpc>
                <a:spcPct val="150000"/>
              </a:lnSpc>
              <a:buFont typeface="+mj-lt"/>
              <a:buAutoNum type="arabicPeriod"/>
            </a:pPr>
            <a:r>
              <a:rPr lang="en-US" sz="1700" dirty="0">
                <a:latin typeface="Times New Roman" panose="02020603050405020304" pitchFamily="18" charset="0"/>
                <a:cs typeface="Times New Roman" panose="02020603050405020304" pitchFamily="18" charset="0"/>
              </a:rPr>
              <a:t>Kumar, C. S., &amp; Swamy, L. N. (2025, September). </a:t>
            </a:r>
            <a:r>
              <a:rPr lang="en-US" sz="1700" i="1" dirty="0" err="1">
                <a:latin typeface="Times New Roman" panose="02020603050405020304" pitchFamily="18" charset="0"/>
                <a:cs typeface="Times New Roman" panose="02020603050405020304" pitchFamily="18" charset="0"/>
              </a:rPr>
              <a:t>EchoNews</a:t>
            </a:r>
            <a:r>
              <a:rPr lang="en-US" sz="1700" i="1" dirty="0">
                <a:latin typeface="Times New Roman" panose="02020603050405020304" pitchFamily="18" charset="0"/>
                <a:cs typeface="Times New Roman" panose="02020603050405020304" pitchFamily="18" charset="0"/>
              </a:rPr>
              <a:t>: An AI-Powered RSS Aggregation and Summarization System for Personalized News Delivery. In 2025 2nd Asia Pacific Conference on Innovation in Technology (APCIT) (pp. 1-5). IEEE.</a:t>
            </a:r>
          </a:p>
          <a:p>
            <a:pPr marL="342900" indent="-342900">
              <a:lnSpc>
                <a:spcPct val="150000"/>
              </a:lnSpc>
              <a:buFont typeface="+mj-lt"/>
              <a:buAutoNum type="arabicPeriod"/>
            </a:pPr>
            <a:r>
              <a:rPr lang="en-US" sz="1700" dirty="0">
                <a:latin typeface="Times New Roman" panose="02020603050405020304" pitchFamily="18" charset="0"/>
                <a:cs typeface="Times New Roman" panose="02020603050405020304" pitchFamily="18" charset="0"/>
              </a:rPr>
              <a:t>Kumar, S. (2024). </a:t>
            </a:r>
            <a:r>
              <a:rPr lang="en-US" sz="1700" i="1" dirty="0">
                <a:latin typeface="Times New Roman" panose="02020603050405020304" pitchFamily="18" charset="0"/>
                <a:cs typeface="Times New Roman" panose="02020603050405020304" pitchFamily="18" charset="0"/>
              </a:rPr>
              <a:t>The role of artificial intelligence in shaping news narratives: A review of global case studies. Journal of Informatics Education and Research, 4(3).</a:t>
            </a:r>
          </a:p>
          <a:p>
            <a:pPr marL="342900" indent="-342900">
              <a:lnSpc>
                <a:spcPct val="150000"/>
              </a:lnSpc>
              <a:buFont typeface="+mj-lt"/>
              <a:buAutoNum type="arabicPeriod"/>
            </a:pPr>
            <a:r>
              <a:rPr lang="en-IN" sz="1700" dirty="0">
                <a:latin typeface="Times New Roman" panose="02020603050405020304" pitchFamily="18" charset="0"/>
                <a:cs typeface="Times New Roman" panose="02020603050405020304" pitchFamily="18" charset="0"/>
              </a:rPr>
              <a:t>Kumar, A. S., Venu, R., Vani, K., &amp; </a:t>
            </a:r>
            <a:r>
              <a:rPr lang="en-IN" sz="1700" dirty="0" err="1">
                <a:latin typeface="Times New Roman" panose="02020603050405020304" pitchFamily="18" charset="0"/>
                <a:cs typeface="Times New Roman" panose="02020603050405020304" pitchFamily="18" charset="0"/>
              </a:rPr>
              <a:t>Pratixith</a:t>
            </a:r>
            <a:r>
              <a:rPr lang="en-IN" sz="1700" dirty="0">
                <a:latin typeface="Times New Roman" panose="02020603050405020304" pitchFamily="18" charset="0"/>
                <a:cs typeface="Times New Roman" panose="02020603050405020304" pitchFamily="18" charset="0"/>
              </a:rPr>
              <a:t>, A. (2025, November). </a:t>
            </a:r>
            <a:r>
              <a:rPr lang="en-IN" sz="1700" i="1" dirty="0">
                <a:latin typeface="Times New Roman" panose="02020603050405020304" pitchFamily="18" charset="0"/>
                <a:cs typeface="Times New Roman" panose="02020603050405020304" pitchFamily="18" charset="0"/>
              </a:rPr>
              <a:t>AI Powered Chatbot Using NLP. In International Conference on Computer Science and Communication Engineering (ICCSCE 2025) (pp. 1320-1331). Atlantis Press.</a:t>
            </a:r>
          </a:p>
          <a:p>
            <a:pPr marL="342900" indent="-342900">
              <a:lnSpc>
                <a:spcPct val="150000"/>
              </a:lnSpc>
              <a:buFont typeface="+mj-lt"/>
              <a:buAutoNum type="arabicPeriod"/>
            </a:pPr>
            <a:r>
              <a:rPr lang="en-US" sz="1700" dirty="0">
                <a:latin typeface="Times New Roman" panose="02020603050405020304" pitchFamily="18" charset="0"/>
                <a:cs typeface="Times New Roman" panose="02020603050405020304" pitchFamily="18" charset="0"/>
              </a:rPr>
              <a:t>Song, Z. X., Cheung, K. W., &amp; Jia, Z. Y. (2026). </a:t>
            </a:r>
            <a:r>
              <a:rPr lang="en-US" sz="1700" i="1" dirty="0">
                <a:latin typeface="Times New Roman" panose="02020603050405020304" pitchFamily="18" charset="0"/>
                <a:cs typeface="Times New Roman" panose="02020603050405020304" pitchFamily="18" charset="0"/>
              </a:rPr>
              <a:t>Transforming Historical Newspaper Research and Preservation Through AI: A Global Perspective. Journalism and Media, 7(1), 10.</a:t>
            </a:r>
          </a:p>
          <a:p>
            <a:pPr marL="342900" indent="-342900">
              <a:lnSpc>
                <a:spcPct val="150000"/>
              </a:lnSpc>
              <a:buFont typeface="+mj-lt"/>
              <a:buAutoNum type="arabicPeriod"/>
            </a:pPr>
            <a:r>
              <a:rPr lang="en-US" sz="1700" dirty="0" err="1">
                <a:latin typeface="Times New Roman" panose="02020603050405020304" pitchFamily="18" charset="0"/>
                <a:cs typeface="Times New Roman" panose="02020603050405020304" pitchFamily="18" charset="0"/>
              </a:rPr>
              <a:t>Mahlil</a:t>
            </a:r>
            <a:r>
              <a:rPr lang="en-US" sz="1700" dirty="0">
                <a:latin typeface="Times New Roman" panose="02020603050405020304" pitchFamily="18" charset="0"/>
                <a:cs typeface="Times New Roman" panose="02020603050405020304" pitchFamily="18" charset="0"/>
              </a:rPr>
              <a:t>, M., Abdi, M. I., &amp; </a:t>
            </a:r>
            <a:r>
              <a:rPr lang="en-US" sz="1700" dirty="0" err="1">
                <a:latin typeface="Times New Roman" panose="02020603050405020304" pitchFamily="18" charset="0"/>
                <a:cs typeface="Times New Roman" panose="02020603050405020304" pitchFamily="18" charset="0"/>
              </a:rPr>
              <a:t>Safriadi</a:t>
            </a:r>
            <a:r>
              <a:rPr lang="en-US" sz="1700" dirty="0">
                <a:latin typeface="Times New Roman" panose="02020603050405020304" pitchFamily="18" charset="0"/>
                <a:cs typeface="Times New Roman" panose="02020603050405020304" pitchFamily="18" charset="0"/>
              </a:rPr>
              <a:t>, S. (2026). </a:t>
            </a:r>
            <a:r>
              <a:rPr lang="en-US" sz="1700" i="1" dirty="0">
                <a:latin typeface="Times New Roman" panose="02020603050405020304" pitchFamily="18" charset="0"/>
                <a:cs typeface="Times New Roman" panose="02020603050405020304" pitchFamily="18" charset="0"/>
              </a:rPr>
              <a:t>Artificial Intelligence in News Translation: A Systematic Literature Review. Journal of Language Testing and Studies, 2(1), 39-56.</a:t>
            </a:r>
            <a:endParaRPr lang="en-IN" sz="17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35546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ECD639D-860C-900D-4283-AFECAC0EB47F}"/>
              </a:ext>
            </a:extLst>
          </p:cNvPr>
          <p:cNvSpPr txBox="1"/>
          <p:nvPr/>
        </p:nvSpPr>
        <p:spPr>
          <a:xfrm>
            <a:off x="2458720" y="2489200"/>
            <a:ext cx="7863840" cy="1107996"/>
          </a:xfrm>
          <a:prstGeom prst="rect">
            <a:avLst/>
          </a:prstGeom>
          <a:solidFill>
            <a:schemeClr val="bg1">
              <a:lumMod val="95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rtlCol="0">
            <a:spAutoFit/>
          </a:bodyPr>
          <a:lstStyle/>
          <a:p>
            <a:r>
              <a:rPr lang="en-IN" sz="6600" i="1" dirty="0">
                <a:latin typeface="Elephant" panose="02020904090505020303"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1839</Words>
  <Application>Microsoft Office PowerPoint</Application>
  <PresentationFormat>Widescreen</PresentationFormat>
  <Paragraphs>292</Paragraphs>
  <Slides>28</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Elephant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akkupalliroja2425@gmail.com</cp:lastModifiedBy>
  <cp:revision>8</cp:revision>
  <dcterms:created xsi:type="dcterms:W3CDTF">2026-08-10T10:51:57Z</dcterms:created>
  <dcterms:modified xsi:type="dcterms:W3CDTF">2026-09-03T07:39:15Z</dcterms:modified>
</cp:coreProperties>
</file>